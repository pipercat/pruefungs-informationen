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 /><Relationship Id="rId14" Type="http://schemas.openxmlformats.org/officeDocument/2006/relationships/tableStyles" Target="tableStyles.xml" /><Relationship Id="rId1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279910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93731416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76255827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1490163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9026387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16281717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193434" name="Slide Image Placeholder 1"/>
          <p:cNvSpPr>
            <a:spLocks noChangeAspect="1" noGrp="1" noRot="1"/>
          </p:cNvSpPr>
          <p:nvPr>
            <p:ph type="sldImg"/>
          </p:nvPr>
        </p:nvSpPr>
        <p:spPr bwMode="auto"/>
      </p:sp>
      <p:sp>
        <p:nvSpPr>
          <p:cNvPr id="846119362" name="Notes Placeholder 2"/>
          <p:cNvSpPr>
            <a:spLocks noGrp="1"/>
          </p:cNvSpPr>
          <p:nvPr>
            <p:ph type="body" idx="1"/>
          </p:nvPr>
        </p:nvSpPr>
        <p:spPr bwMode="auto"/>
        <p:txBody>
          <a:bodyPr/>
          <a:lstStyle/>
          <a:p>
            <a:pPr>
              <a:defRPr/>
            </a:pPr>
            <a:r>
              <a:rPr lang="en-US"/>
              <a:t>Begrüßung. Kurze Einleitung: Heute stelle ich das Anwendungsprotokoll FTP vor - eines der ältesten und bis heute verbreiteten Protokolle zur Dateiübertragung im Netzwerk. Ich gehe auf Grundlagen, Geschichte, Sicherheit, Performance, eine praktische Umsetzung und verbreitete Software ein.</a:t>
            </a:r>
            <a:endParaRPr lang="en-US"/>
          </a:p>
        </p:txBody>
      </p:sp>
      <p:sp>
        <p:nvSpPr>
          <p:cNvPr id="23084699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0258130" name="Slide Image Placeholder 1"/>
          <p:cNvSpPr>
            <a:spLocks noChangeAspect="1" noGrp="1" noRot="1"/>
          </p:cNvSpPr>
          <p:nvPr>
            <p:ph type="sldImg"/>
          </p:nvPr>
        </p:nvSpPr>
        <p:spPr bwMode="auto"/>
      </p:sp>
      <p:sp>
        <p:nvSpPr>
          <p:cNvPr id="1897780531" name="Notes Placeholder 2"/>
          <p:cNvSpPr>
            <a:spLocks noGrp="1"/>
          </p:cNvSpPr>
          <p:nvPr>
            <p:ph type="body" idx="1"/>
          </p:nvPr>
        </p:nvSpPr>
        <p:spPr bwMode="auto"/>
        <p:txBody>
          <a:bodyPr/>
          <a:lstStyle/>
          <a:p>
            <a:pPr>
              <a:defRPr/>
            </a:pPr>
            <a:r>
              <a:rPr lang="en-US"/>
              <a:t>Kurzer Überblick über die sechs Abschnitte des Vortrags.</a:t>
            </a:r>
            <a:endParaRPr lang="en-US"/>
          </a:p>
        </p:txBody>
      </p:sp>
      <p:sp>
        <p:nvSpPr>
          <p:cNvPr id="22863815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327176" name="Slide Image Placeholder 1"/>
          <p:cNvSpPr>
            <a:spLocks noChangeAspect="1" noGrp="1" noRot="1"/>
          </p:cNvSpPr>
          <p:nvPr>
            <p:ph type="sldImg"/>
          </p:nvPr>
        </p:nvSpPr>
        <p:spPr bwMode="auto"/>
      </p:sp>
      <p:sp>
        <p:nvSpPr>
          <p:cNvPr id="1670975140" name="Notes Placeholder 2"/>
          <p:cNvSpPr>
            <a:spLocks noGrp="1"/>
          </p:cNvSpPr>
          <p:nvPr>
            <p:ph type="body" idx="1"/>
          </p:nvPr>
        </p:nvSpPr>
        <p:spPr bwMode="auto"/>
        <p:txBody>
          <a:bodyPr/>
          <a:lstStyle/>
          <a:p>
            <a:pPr>
              <a:defRPr/>
            </a:pPr>
            <a:r>
              <a:rPr lang="en-US"/>
              <a:t>FTP ist eines der ältesten Anwendungsprotokolle im Internet, standardisiert 1985 in RFC 959. Wichtig: FTP nutzt zwei getrennte TCP-Verbindungen - eine für Befehle (Control, Port 21) und eine für die eigentlichen Daten (Data, Port 20 oder dynamisch ausgehandelt). Im aktiven Modus baut der Server die Datenverbindung zum Client auf, im passiven Modus übernimmt der Client das - das ist heute Standard, weil es besser mit Firewalls/NAT funktioniert.</a:t>
            </a:r>
            <a:endParaRPr lang="en-US"/>
          </a:p>
        </p:txBody>
      </p:sp>
      <p:sp>
        <p:nvSpPr>
          <p:cNvPr id="1191021413"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853843" name="Slide Image Placeholder 1"/>
          <p:cNvSpPr>
            <a:spLocks noChangeAspect="1" noGrp="1" noRot="1"/>
          </p:cNvSpPr>
          <p:nvPr>
            <p:ph type="sldImg"/>
          </p:nvPr>
        </p:nvSpPr>
        <p:spPr bwMode="auto"/>
      </p:sp>
      <p:sp>
        <p:nvSpPr>
          <p:cNvPr id="1901063452" name="Notes Placeholder 2"/>
          <p:cNvSpPr>
            <a:spLocks noGrp="1"/>
          </p:cNvSpPr>
          <p:nvPr>
            <p:ph type="body" idx="1"/>
          </p:nvPr>
        </p:nvSpPr>
        <p:spPr bwMode="auto"/>
        <p:txBody>
          <a:bodyPr/>
          <a:lstStyle/>
          <a:p>
            <a:pPr>
              <a:defRPr/>
            </a:pPr>
            <a:r>
              <a:rPr lang="en-US"/>
              <a:t>FTP hat eine lange Geschichte: Erste Version bereits 1971 von Abhay Bhushan am MIT, 1980 Anpassung an TCP, und 1985 die bis heute gültige Fassung in RFC 959. 1997 kamen Security Extensions dazu, aus denen sich FTPS entwickelt hat. Heute wird FTP zunehmend durch sicherere Alternativen ersetzt, ist aber in vielen bestehenden Systemen noch im Einsatz.</a:t>
            </a:r>
            <a:endParaRPr lang="en-US"/>
          </a:p>
        </p:txBody>
      </p:sp>
      <p:sp>
        <p:nvSpPr>
          <p:cNvPr id="376743396"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5458057" name="Slide Image Placeholder 1"/>
          <p:cNvSpPr>
            <a:spLocks noChangeAspect="1" noGrp="1" noRot="1"/>
          </p:cNvSpPr>
          <p:nvPr>
            <p:ph type="sldImg"/>
          </p:nvPr>
        </p:nvSpPr>
        <p:spPr bwMode="auto"/>
      </p:sp>
      <p:sp>
        <p:nvSpPr>
          <p:cNvPr id="461513412" name="Notes Placeholder 2"/>
          <p:cNvSpPr>
            <a:spLocks noGrp="1"/>
          </p:cNvSpPr>
          <p:nvPr>
            <p:ph type="body" idx="1"/>
          </p:nvPr>
        </p:nvSpPr>
        <p:spPr bwMode="auto"/>
        <p:txBody>
          <a:bodyPr/>
          <a:lstStyle/>
          <a:p>
            <a:pPr>
              <a:defRPr/>
            </a:pPr>
            <a:r>
              <a:rPr lang="en-US"/>
              <a:t>Der größte Kritikpunkt an klassischem FTP: Anmeldedaten und Dateien werden im Klartext übertragen - wer den Netzwerkverkehr mitschneidet, kann Passwörter und Inhalte lesen. Es gibt außerdem keinen Integritätsschutz und der aktive Modus macht Firewalls das Leben schwer. Die gängigen Lösungen sind FTPS, also FTP über TLS, und SFTP, das komplett auf SSH basiert und mit klassischem FTP eigentlich nur den Namen teilt.</a:t>
            </a:r>
            <a:endParaRPr lang="en-US"/>
          </a:p>
        </p:txBody>
      </p:sp>
      <p:sp>
        <p:nvSpPr>
          <p:cNvPr id="1949241290"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2728969" name="Slide Image Placeholder 1"/>
          <p:cNvSpPr>
            <a:spLocks noChangeAspect="1" noGrp="1" noRot="1"/>
          </p:cNvSpPr>
          <p:nvPr>
            <p:ph type="sldImg"/>
          </p:nvPr>
        </p:nvSpPr>
        <p:spPr bwMode="auto"/>
      </p:sp>
      <p:sp>
        <p:nvSpPr>
          <p:cNvPr id="557545839" name="Notes Placeholder 2"/>
          <p:cNvSpPr>
            <a:spLocks noGrp="1"/>
          </p:cNvSpPr>
          <p:nvPr>
            <p:ph type="body" idx="1"/>
          </p:nvPr>
        </p:nvSpPr>
        <p:spPr bwMode="auto"/>
        <p:txBody>
          <a:bodyPr/>
          <a:lstStyle/>
          <a:p>
            <a:pPr>
              <a:defRPr/>
            </a:pPr>
            <a:r>
              <a:rPr lang="en-US"/>
              <a:t>Bei der Performance punktet FTP vor allem durch die getrennten Verbindungen und den fehlenden Verschlüsselungs-Overhead im vertrauenswürdigen Netz - dadurch eignet es sich gut für große Dateien. Nachteile sind fehlende Kompression von Haus aus und der Overhead durch neue Verbindungen bei vielen kleinen Dateien. Sichere Varianten wie FTPS oder SFTP kosten etwas Geschwindigkeit durch die Verschlüsselung.</a:t>
            </a:r>
            <a:endParaRPr lang="en-US"/>
          </a:p>
        </p:txBody>
      </p:sp>
      <p:sp>
        <p:nvSpPr>
          <p:cNvPr id="139522642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3310607" name="Slide Image Placeholder 1"/>
          <p:cNvSpPr>
            <a:spLocks noChangeAspect="1" noGrp="1" noRot="1"/>
          </p:cNvSpPr>
          <p:nvPr>
            <p:ph type="sldImg"/>
          </p:nvPr>
        </p:nvSpPr>
        <p:spPr bwMode="auto"/>
      </p:sp>
      <p:sp>
        <p:nvSpPr>
          <p:cNvPr id="368387419" name="Notes Placeholder 2"/>
          <p:cNvSpPr>
            <a:spLocks noGrp="1"/>
          </p:cNvSpPr>
          <p:nvPr>
            <p:ph type="body" idx="1"/>
          </p:nvPr>
        </p:nvSpPr>
        <p:spPr bwMode="auto"/>
        <p:txBody>
          <a:bodyPr/>
          <a:lstStyle/>
          <a:p>
            <a:pPr>
              <a:defRPr/>
            </a:pPr>
            <a:r>
              <a:rPr lang="en-US"/>
              <a:t>Unabhängig von der konkreten Software läuft jede FTP-Sitzung nach demselben Muster ab: Zuerst baut der Client die Steuerverbindung zum Server auf Port 21 auf. Dann folgt die Authentifizierung mit Benutzername und Passwort, oder anonym, falls der Server das zulässt. Anschließend tauschen Client und Server Befehle aus, etwa um Verzeichnisse zu wechseln oder aufzulisten. Für die eigentliche Übertragung wird eine zusätzliche Datenverbindung ausgehandelt - aktiv oder passiv - über die dann die Datei übertragen wird. Zum Abschluss wird die Datenverbindung nach der Übertragung geschlossen, und die Steuerverbindung endet mit dem Befehl QUIT.</a:t>
            </a:r>
            <a:endParaRPr lang="en-US"/>
          </a:p>
        </p:txBody>
      </p:sp>
      <p:sp>
        <p:nvSpPr>
          <p:cNvPr id="1772779570"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6354958" name="Slide Image Placeholder 1"/>
          <p:cNvSpPr>
            <a:spLocks noChangeAspect="1" noGrp="1" noRot="1"/>
          </p:cNvSpPr>
          <p:nvPr>
            <p:ph type="sldImg"/>
          </p:nvPr>
        </p:nvSpPr>
        <p:spPr bwMode="auto"/>
      </p:sp>
      <p:sp>
        <p:nvSpPr>
          <p:cNvPr id="1109797450" name="Notes Placeholder 2"/>
          <p:cNvSpPr>
            <a:spLocks noGrp="1"/>
          </p:cNvSpPr>
          <p:nvPr>
            <p:ph type="body" idx="1"/>
          </p:nvPr>
        </p:nvSpPr>
        <p:spPr bwMode="auto"/>
        <p:txBody>
          <a:bodyPr/>
          <a:lstStyle/>
          <a:p>
            <a:pPr>
              <a:defRPr/>
            </a:pPr>
            <a:r>
              <a:rPr lang="en-US"/>
              <a:t>Auf der Server-Seite sind vsftpd, ProFTPD und Pure-FTPd unter Linux weit verbreitet, unter Windows kommen oft der IIS-FTP-Dienst oder FileZilla Server zum Einsatz. Auf Client-Seite ist FileZilla der bekannteste plattformübergreifende Client, WinSCP und Cyberduck bieten zusätzlich SFTP-Unterstützung, und für Automatisierung wird häufig cURL in Skripten eingesetzt.</a:t>
            </a:r>
            <a:endParaRPr lang="en-US"/>
          </a:p>
        </p:txBody>
      </p:sp>
      <p:sp>
        <p:nvSpPr>
          <p:cNvPr id="2086988337"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6126686" name="Slide Image Placeholder 1"/>
          <p:cNvSpPr>
            <a:spLocks noChangeAspect="1" noGrp="1" noRot="1"/>
          </p:cNvSpPr>
          <p:nvPr>
            <p:ph type="sldImg"/>
          </p:nvPr>
        </p:nvSpPr>
        <p:spPr bwMode="auto"/>
      </p:sp>
      <p:sp>
        <p:nvSpPr>
          <p:cNvPr id="668672949" name="Notes Placeholder 2"/>
          <p:cNvSpPr>
            <a:spLocks noGrp="1"/>
          </p:cNvSpPr>
          <p:nvPr>
            <p:ph type="body" idx="1"/>
          </p:nvPr>
        </p:nvSpPr>
        <p:spPr bwMode="auto"/>
        <p:txBody>
          <a:bodyPr/>
          <a:lstStyle/>
          <a:p>
            <a:pPr>
              <a:defRPr/>
            </a:pPr>
            <a:r>
              <a:rPr lang="en-US"/>
              <a:t>Zusammengefasst: FTP ist ein bewährtes, einfach umzusetzendes Protokoll, das seit Jahrzehnten im Einsatz ist. Der große Schwachpunkt ist die fehlende Verschlüsselung im Standard. Für produktive und sicherheitskritische Umgebungen sollte daher auf FTPS oder SFTP gesetzt werden. Damit bin ich am Ende meines Vortrags - vielen Dank für die Aufmerksamkeit, gerne beantworte ich Fragen.</a:t>
            </a:r>
            <a:endParaRPr lang="en-US"/>
          </a:p>
        </p:txBody>
      </p:sp>
      <p:sp>
        <p:nvSpPr>
          <p:cNvPr id="1487024937"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11111"/>
        </a:solidFill>
      </p:bgPr>
    </p:bg>
    <p:spTree>
      <p:nvGrpSpPr>
        <p:cNvPr id="1" name=""/>
        <p:cNvGrpSpPr/>
        <p:nvPr/>
      </p:nvGrpSpPr>
      <p:grpSpPr bwMode="auto">
        <a:xfrm>
          <a:off x="0" y="0"/>
          <a:ext cx="0" cy="0"/>
          <a:chOff x="0" y="0"/>
          <a:chExt cx="0" cy="0"/>
        </a:xfrm>
      </p:grpSpPr>
      <p:sp>
        <p:nvSpPr>
          <p:cNvPr id="754333178" name="Shape 0"/>
          <p:cNvSpPr/>
          <p:nvPr/>
        </p:nvSpPr>
        <p:spPr bwMode="auto">
          <a:xfrm>
            <a:off x="8168335" y="0"/>
            <a:ext cx="4023360" cy="6858000"/>
          </a:xfrm>
          <a:prstGeom prst="rect">
            <a:avLst/>
          </a:prstGeom>
          <a:solidFill>
            <a:srgbClr val="D0111B"/>
          </a:solidFill>
          <a:ln/>
        </p:spPr>
      </p:sp>
      <p:sp>
        <p:nvSpPr>
          <p:cNvPr id="33136659" name="Shape 1"/>
          <p:cNvSpPr/>
          <p:nvPr/>
        </p:nvSpPr>
        <p:spPr bwMode="auto">
          <a:xfrm>
            <a:off x="320040" y="320040"/>
            <a:ext cx="11551615" cy="6217920"/>
          </a:xfrm>
          <a:prstGeom prst="rect">
            <a:avLst/>
          </a:prstGeom>
          <a:noFill/>
          <a:ln w="12700">
            <a:solidFill>
              <a:srgbClr val="FFFFFF"/>
            </a:solidFill>
            <a:prstDash val="solid"/>
          </a:ln>
        </p:spPr>
      </p:sp>
      <p:sp>
        <p:nvSpPr>
          <p:cNvPr id="1105019440" name="Text 2"/>
          <p:cNvSpPr/>
          <p:nvPr/>
        </p:nvSpPr>
        <p:spPr bwMode="auto">
          <a:xfrm>
            <a:off x="822960" y="2331720"/>
            <a:ext cx="7315200" cy="365760"/>
          </a:xfrm>
          <a:prstGeom prst="rect">
            <a:avLst/>
          </a:prstGeom>
          <a:noFill/>
          <a:ln/>
        </p:spPr>
        <p:txBody>
          <a:bodyPr wrap="square" rtlCol="0" anchor="ctr"/>
          <a:lstStyle/>
          <a:p>
            <a:pPr marL="0" indent="0">
              <a:buNone/>
              <a:defRPr/>
            </a:pPr>
            <a:r>
              <a:rPr lang="en-US" sz="1500" b="1" spc="300">
                <a:solidFill>
                  <a:srgbClr val="D0111B"/>
                </a:solidFill>
                <a:latin typeface="Calibri"/>
                <a:ea typeface="Calibri"/>
                <a:cs typeface="Calibri"/>
              </a:rPr>
              <a:t>ANWENDUNGSPROTOKOLL</a:t>
            </a:r>
            <a:endParaRPr lang="en-US" sz="1500"/>
          </a:p>
        </p:txBody>
      </p:sp>
      <p:sp>
        <p:nvSpPr>
          <p:cNvPr id="1860887875" name="Text 3"/>
          <p:cNvSpPr/>
          <p:nvPr/>
        </p:nvSpPr>
        <p:spPr bwMode="auto">
          <a:xfrm>
            <a:off x="777240" y="2606040"/>
            <a:ext cx="6858000" cy="1463040"/>
          </a:xfrm>
          <a:prstGeom prst="rect">
            <a:avLst/>
          </a:prstGeom>
          <a:noFill/>
          <a:ln/>
        </p:spPr>
        <p:txBody>
          <a:bodyPr wrap="square" rtlCol="0" anchor="ctr"/>
          <a:lstStyle/>
          <a:p>
            <a:pPr marL="0" indent="0">
              <a:buNone/>
              <a:defRPr/>
            </a:pPr>
            <a:r>
              <a:rPr lang="en-US" sz="9600" b="1">
                <a:solidFill>
                  <a:srgbClr val="FFFFFF"/>
                </a:solidFill>
                <a:latin typeface="Cambria"/>
                <a:ea typeface="Cambria"/>
                <a:cs typeface="Cambria"/>
              </a:rPr>
              <a:t>FTP</a:t>
            </a:r>
            <a:endParaRPr lang="en-US" sz="9600"/>
          </a:p>
        </p:txBody>
      </p:sp>
      <p:sp>
        <p:nvSpPr>
          <p:cNvPr id="1848619077" name="Text 4"/>
          <p:cNvSpPr/>
          <p:nvPr/>
        </p:nvSpPr>
        <p:spPr bwMode="auto">
          <a:xfrm>
            <a:off x="822960" y="3977640"/>
            <a:ext cx="7315200" cy="502920"/>
          </a:xfrm>
          <a:prstGeom prst="rect">
            <a:avLst/>
          </a:prstGeom>
          <a:noFill/>
          <a:ln/>
        </p:spPr>
        <p:txBody>
          <a:bodyPr wrap="square" rtlCol="0" anchor="ctr"/>
          <a:lstStyle/>
          <a:p>
            <a:pPr marL="0" indent="0">
              <a:buNone/>
              <a:defRPr/>
            </a:pPr>
            <a:r>
              <a:rPr lang="en-US" sz="2400">
                <a:solidFill>
                  <a:srgbClr val="FFFFFF"/>
                </a:solidFill>
                <a:latin typeface="Calibri"/>
                <a:ea typeface="Calibri"/>
                <a:cs typeface="Calibri"/>
              </a:rPr>
              <a:t>File Transfer Protocol</a:t>
            </a:r>
            <a:endParaRPr lang="en-US" sz="2400"/>
          </a:p>
        </p:txBody>
      </p:sp>
      <p:sp>
        <p:nvSpPr>
          <p:cNvPr id="394784964" name="Shape 6"/>
          <p:cNvSpPr/>
          <p:nvPr/>
        </p:nvSpPr>
        <p:spPr bwMode="auto">
          <a:xfrm>
            <a:off x="9677095" y="2743200"/>
            <a:ext cx="1371600" cy="1371600"/>
          </a:xfrm>
          <a:prstGeom prst="rect">
            <a:avLst/>
          </a:prstGeom>
          <a:solidFill>
            <a:srgbClr val="111111"/>
          </a:solidFill>
          <a:ln/>
        </p:spPr>
      </p:sp>
      <p:pic>
        <p:nvPicPr>
          <p:cNvPr id="1346774851" name="Image 0" descr="preencoded.png"/>
          <p:cNvPicPr>
            <a:picLocks noChangeAspect="1"/>
          </p:cNvPicPr>
          <p:nvPr/>
        </p:nvPicPr>
        <p:blipFill rotWithShape="1">
          <a:blip r:embed="rId3"/>
          <a:stretch/>
        </p:blipFill>
        <p:spPr bwMode="auto">
          <a:xfrm>
            <a:off x="9855403" y="2921508"/>
            <a:ext cx="1014984" cy="10149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345430324" name="Shape 0"/>
          <p:cNvSpPr/>
          <p:nvPr/>
        </p:nvSpPr>
        <p:spPr bwMode="auto">
          <a:xfrm>
            <a:off x="548640" y="512064"/>
            <a:ext cx="128016" cy="128016"/>
          </a:xfrm>
          <a:prstGeom prst="rect">
            <a:avLst/>
          </a:prstGeom>
          <a:solidFill>
            <a:srgbClr val="D0111B"/>
          </a:solidFill>
          <a:ln/>
        </p:spPr>
      </p:sp>
      <p:sp>
        <p:nvSpPr>
          <p:cNvPr id="1127467128"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ÜBERSICHT</a:t>
            </a:r>
            <a:endParaRPr lang="en-US" sz="1300"/>
          </a:p>
        </p:txBody>
      </p:sp>
      <p:sp>
        <p:nvSpPr>
          <p:cNvPr id="1452522671" name="Text 2"/>
          <p:cNvSpPr/>
          <p:nvPr/>
        </p:nvSpPr>
        <p:spPr bwMode="auto">
          <a:xfrm>
            <a:off x="548640" y="777240"/>
            <a:ext cx="7315200" cy="731520"/>
          </a:xfrm>
          <a:prstGeom prst="rect">
            <a:avLst/>
          </a:prstGeom>
          <a:noFill/>
          <a:ln/>
        </p:spPr>
        <p:txBody>
          <a:bodyPr wrap="square" rtlCol="0" anchor="ctr"/>
          <a:lstStyle/>
          <a:p>
            <a:pPr marL="0" indent="0">
              <a:buNone/>
              <a:defRPr/>
            </a:pPr>
            <a:r>
              <a:rPr lang="en-US" sz="4000" b="1">
                <a:solidFill>
                  <a:srgbClr val="111111"/>
                </a:solidFill>
                <a:latin typeface="Cambria"/>
                <a:ea typeface="Cambria"/>
                <a:cs typeface="Cambria"/>
              </a:rPr>
              <a:t>Agenda</a:t>
            </a:r>
            <a:endParaRPr lang="en-US" sz="4000"/>
          </a:p>
        </p:txBody>
      </p:sp>
      <p:sp>
        <p:nvSpPr>
          <p:cNvPr id="161989613" name="Shape 3"/>
          <p:cNvSpPr/>
          <p:nvPr/>
        </p:nvSpPr>
        <p:spPr bwMode="auto">
          <a:xfrm>
            <a:off x="548640" y="1874520"/>
            <a:ext cx="5394960" cy="1188720"/>
          </a:xfrm>
          <a:prstGeom prst="rect">
            <a:avLst/>
          </a:prstGeom>
          <a:solidFill>
            <a:srgbClr val="FFFFFF"/>
          </a:solidFill>
          <a:ln w="12700">
            <a:solidFill>
              <a:srgbClr val="111111"/>
            </a:solidFill>
            <a:prstDash val="solid"/>
          </a:ln>
        </p:spPr>
      </p:sp>
      <p:sp>
        <p:nvSpPr>
          <p:cNvPr id="1093956238" name="Shape 4"/>
          <p:cNvSpPr/>
          <p:nvPr/>
        </p:nvSpPr>
        <p:spPr bwMode="auto">
          <a:xfrm>
            <a:off x="749808" y="2112264"/>
            <a:ext cx="713232" cy="713232"/>
          </a:xfrm>
          <a:prstGeom prst="rect">
            <a:avLst/>
          </a:prstGeom>
          <a:solidFill>
            <a:srgbClr val="D0111B"/>
          </a:solidFill>
          <a:ln/>
        </p:spPr>
      </p:sp>
      <p:pic>
        <p:nvPicPr>
          <p:cNvPr id="667485612" name="Image 0" descr="preencoded.png"/>
          <p:cNvPicPr>
            <a:picLocks noChangeAspect="1"/>
          </p:cNvPicPr>
          <p:nvPr/>
        </p:nvPicPr>
        <p:blipFill rotWithShape="1">
          <a:blip r:embed="rId3"/>
          <a:stretch/>
        </p:blipFill>
        <p:spPr bwMode="auto">
          <a:xfrm>
            <a:off x="842528" y="2204984"/>
            <a:ext cx="527792" cy="527792"/>
          </a:xfrm>
          <a:prstGeom prst="rect">
            <a:avLst/>
          </a:prstGeom>
        </p:spPr>
      </p:pic>
      <p:sp>
        <p:nvSpPr>
          <p:cNvPr id="1565839142" name="Text 5"/>
          <p:cNvSpPr/>
          <p:nvPr/>
        </p:nvSpPr>
        <p:spPr bwMode="auto">
          <a:xfrm>
            <a:off x="749808" y="283464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01</a:t>
            </a:r>
            <a:endParaRPr lang="en-US" sz="1000"/>
          </a:p>
        </p:txBody>
      </p:sp>
      <p:sp>
        <p:nvSpPr>
          <p:cNvPr id="1227108725" name="Text 6"/>
          <p:cNvSpPr/>
          <p:nvPr/>
        </p:nvSpPr>
        <p:spPr bwMode="auto">
          <a:xfrm>
            <a:off x="1645920" y="2057400"/>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Grundlagen</a:t>
            </a:r>
            <a:endParaRPr lang="en-US" sz="1700"/>
          </a:p>
        </p:txBody>
      </p:sp>
      <p:sp>
        <p:nvSpPr>
          <p:cNvPr id="2023709559" name="Text 7"/>
          <p:cNvSpPr/>
          <p:nvPr/>
        </p:nvSpPr>
        <p:spPr bwMode="auto">
          <a:xfrm>
            <a:off x="1645920" y="244144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Funktionsweise, Verbindungen, Befehle</a:t>
            </a:r>
            <a:endParaRPr lang="en-US" sz="1150"/>
          </a:p>
        </p:txBody>
      </p:sp>
      <p:sp>
        <p:nvSpPr>
          <p:cNvPr id="1469188213" name="Shape 8"/>
          <p:cNvSpPr/>
          <p:nvPr/>
        </p:nvSpPr>
        <p:spPr bwMode="auto">
          <a:xfrm>
            <a:off x="6400800" y="1874520"/>
            <a:ext cx="5394960" cy="1188720"/>
          </a:xfrm>
          <a:prstGeom prst="rect">
            <a:avLst/>
          </a:prstGeom>
          <a:solidFill>
            <a:srgbClr val="FFFFFF"/>
          </a:solidFill>
          <a:ln w="12700">
            <a:solidFill>
              <a:srgbClr val="111111"/>
            </a:solidFill>
            <a:prstDash val="solid"/>
          </a:ln>
        </p:spPr>
      </p:sp>
      <p:sp>
        <p:nvSpPr>
          <p:cNvPr id="82457352" name="Shape 9"/>
          <p:cNvSpPr/>
          <p:nvPr/>
        </p:nvSpPr>
        <p:spPr bwMode="auto">
          <a:xfrm>
            <a:off x="6601968" y="2112264"/>
            <a:ext cx="713232" cy="713232"/>
          </a:xfrm>
          <a:prstGeom prst="rect">
            <a:avLst/>
          </a:prstGeom>
          <a:solidFill>
            <a:srgbClr val="111111"/>
          </a:solidFill>
          <a:ln/>
        </p:spPr>
      </p:sp>
      <p:pic>
        <p:nvPicPr>
          <p:cNvPr id="1034585091" name="Image 1" descr="preencoded.png"/>
          <p:cNvPicPr>
            <a:picLocks noChangeAspect="1"/>
          </p:cNvPicPr>
          <p:nvPr/>
        </p:nvPicPr>
        <p:blipFill rotWithShape="1">
          <a:blip r:embed="rId4"/>
          <a:stretch/>
        </p:blipFill>
        <p:spPr bwMode="auto">
          <a:xfrm>
            <a:off x="6694688" y="2204984"/>
            <a:ext cx="527792" cy="527792"/>
          </a:xfrm>
          <a:prstGeom prst="rect">
            <a:avLst/>
          </a:prstGeom>
        </p:spPr>
      </p:pic>
      <p:sp>
        <p:nvSpPr>
          <p:cNvPr id="1292084335" name="Text 10"/>
          <p:cNvSpPr/>
          <p:nvPr/>
        </p:nvSpPr>
        <p:spPr bwMode="auto">
          <a:xfrm>
            <a:off x="6601968" y="283464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02</a:t>
            </a:r>
            <a:endParaRPr lang="en-US" sz="1000"/>
          </a:p>
        </p:txBody>
      </p:sp>
      <p:sp>
        <p:nvSpPr>
          <p:cNvPr id="76658106" name="Text 11"/>
          <p:cNvSpPr/>
          <p:nvPr/>
        </p:nvSpPr>
        <p:spPr bwMode="auto">
          <a:xfrm>
            <a:off x="7498080" y="2057400"/>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Geschichte</a:t>
            </a:r>
            <a:endParaRPr lang="en-US" sz="1700"/>
          </a:p>
        </p:txBody>
      </p:sp>
      <p:sp>
        <p:nvSpPr>
          <p:cNvPr id="499698555" name="Text 12"/>
          <p:cNvSpPr/>
          <p:nvPr/>
        </p:nvSpPr>
        <p:spPr bwMode="auto">
          <a:xfrm>
            <a:off x="7498080" y="244144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Entwicklung von 1971 bis heute</a:t>
            </a:r>
            <a:endParaRPr lang="en-US" sz="1150"/>
          </a:p>
        </p:txBody>
      </p:sp>
      <p:sp>
        <p:nvSpPr>
          <p:cNvPr id="1811870614" name="Shape 13"/>
          <p:cNvSpPr/>
          <p:nvPr/>
        </p:nvSpPr>
        <p:spPr bwMode="auto">
          <a:xfrm>
            <a:off x="548640" y="3291840"/>
            <a:ext cx="5394960" cy="1188720"/>
          </a:xfrm>
          <a:prstGeom prst="rect">
            <a:avLst/>
          </a:prstGeom>
          <a:solidFill>
            <a:srgbClr val="FFFFFF"/>
          </a:solidFill>
          <a:ln w="12700">
            <a:solidFill>
              <a:srgbClr val="111111"/>
            </a:solidFill>
            <a:prstDash val="solid"/>
          </a:ln>
        </p:spPr>
      </p:sp>
      <p:sp>
        <p:nvSpPr>
          <p:cNvPr id="1462439107" name="Shape 14"/>
          <p:cNvSpPr/>
          <p:nvPr/>
        </p:nvSpPr>
        <p:spPr bwMode="auto">
          <a:xfrm>
            <a:off x="749808" y="3529584"/>
            <a:ext cx="713232" cy="713232"/>
          </a:xfrm>
          <a:prstGeom prst="rect">
            <a:avLst/>
          </a:prstGeom>
          <a:solidFill>
            <a:srgbClr val="D0111B"/>
          </a:solidFill>
          <a:ln/>
        </p:spPr>
      </p:sp>
      <p:pic>
        <p:nvPicPr>
          <p:cNvPr id="872832246" name="Image 2" descr="preencoded.png"/>
          <p:cNvPicPr>
            <a:picLocks noChangeAspect="1"/>
          </p:cNvPicPr>
          <p:nvPr/>
        </p:nvPicPr>
        <p:blipFill rotWithShape="1">
          <a:blip r:embed="rId5"/>
          <a:stretch/>
        </p:blipFill>
        <p:spPr bwMode="auto">
          <a:xfrm>
            <a:off x="842528" y="3622304"/>
            <a:ext cx="527792" cy="527792"/>
          </a:xfrm>
          <a:prstGeom prst="rect">
            <a:avLst/>
          </a:prstGeom>
        </p:spPr>
      </p:pic>
      <p:sp>
        <p:nvSpPr>
          <p:cNvPr id="844442792" name="Text 15"/>
          <p:cNvSpPr/>
          <p:nvPr/>
        </p:nvSpPr>
        <p:spPr bwMode="auto">
          <a:xfrm>
            <a:off x="749808" y="425196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03</a:t>
            </a:r>
            <a:endParaRPr lang="en-US" sz="1000"/>
          </a:p>
        </p:txBody>
      </p:sp>
      <p:sp>
        <p:nvSpPr>
          <p:cNvPr id="1955117540" name="Text 16"/>
          <p:cNvSpPr/>
          <p:nvPr/>
        </p:nvSpPr>
        <p:spPr bwMode="auto">
          <a:xfrm>
            <a:off x="1645920" y="3474720"/>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Sicherheitsaspekte</a:t>
            </a:r>
            <a:endParaRPr lang="en-US" sz="1700"/>
          </a:p>
        </p:txBody>
      </p:sp>
      <p:sp>
        <p:nvSpPr>
          <p:cNvPr id="1546973514" name="Text 17"/>
          <p:cNvSpPr/>
          <p:nvPr/>
        </p:nvSpPr>
        <p:spPr bwMode="auto">
          <a:xfrm>
            <a:off x="1645920" y="385876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Risiken und sichere Alternativen</a:t>
            </a:r>
            <a:endParaRPr lang="en-US" sz="1150"/>
          </a:p>
        </p:txBody>
      </p:sp>
      <p:sp>
        <p:nvSpPr>
          <p:cNvPr id="2067672071" name="Shape 18"/>
          <p:cNvSpPr/>
          <p:nvPr/>
        </p:nvSpPr>
        <p:spPr bwMode="auto">
          <a:xfrm>
            <a:off x="6400800" y="3291840"/>
            <a:ext cx="5394960" cy="1188720"/>
          </a:xfrm>
          <a:prstGeom prst="rect">
            <a:avLst/>
          </a:prstGeom>
          <a:solidFill>
            <a:srgbClr val="FFFFFF"/>
          </a:solidFill>
          <a:ln w="12700">
            <a:solidFill>
              <a:srgbClr val="111111"/>
            </a:solidFill>
            <a:prstDash val="solid"/>
          </a:ln>
        </p:spPr>
      </p:sp>
      <p:sp>
        <p:nvSpPr>
          <p:cNvPr id="603681916" name="Shape 19"/>
          <p:cNvSpPr/>
          <p:nvPr/>
        </p:nvSpPr>
        <p:spPr bwMode="auto">
          <a:xfrm>
            <a:off x="6601968" y="3529584"/>
            <a:ext cx="713232" cy="713232"/>
          </a:xfrm>
          <a:prstGeom prst="rect">
            <a:avLst/>
          </a:prstGeom>
          <a:solidFill>
            <a:srgbClr val="111111"/>
          </a:solidFill>
          <a:ln/>
        </p:spPr>
      </p:sp>
      <p:pic>
        <p:nvPicPr>
          <p:cNvPr id="864425226" name="Image 3" descr="preencoded.png"/>
          <p:cNvPicPr>
            <a:picLocks noChangeAspect="1"/>
          </p:cNvPicPr>
          <p:nvPr/>
        </p:nvPicPr>
        <p:blipFill rotWithShape="1">
          <a:blip r:embed="rId6"/>
          <a:stretch/>
        </p:blipFill>
        <p:spPr bwMode="auto">
          <a:xfrm>
            <a:off x="6694688" y="3622304"/>
            <a:ext cx="527792" cy="527792"/>
          </a:xfrm>
          <a:prstGeom prst="rect">
            <a:avLst/>
          </a:prstGeom>
        </p:spPr>
      </p:pic>
      <p:sp>
        <p:nvSpPr>
          <p:cNvPr id="714240951" name="Text 20"/>
          <p:cNvSpPr/>
          <p:nvPr/>
        </p:nvSpPr>
        <p:spPr bwMode="auto">
          <a:xfrm>
            <a:off x="6601968" y="425196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04</a:t>
            </a:r>
            <a:endParaRPr lang="en-US" sz="1000"/>
          </a:p>
        </p:txBody>
      </p:sp>
      <p:sp>
        <p:nvSpPr>
          <p:cNvPr id="736527352" name="Text 21"/>
          <p:cNvSpPr/>
          <p:nvPr/>
        </p:nvSpPr>
        <p:spPr bwMode="auto">
          <a:xfrm>
            <a:off x="7498080" y="3474720"/>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Performance</a:t>
            </a:r>
            <a:endParaRPr lang="en-US" sz="1700"/>
          </a:p>
        </p:txBody>
      </p:sp>
      <p:sp>
        <p:nvSpPr>
          <p:cNvPr id="1792888915" name="Text 22"/>
          <p:cNvSpPr/>
          <p:nvPr/>
        </p:nvSpPr>
        <p:spPr bwMode="auto">
          <a:xfrm>
            <a:off x="7498080" y="385876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Geschwindigkeit und Effizienz</a:t>
            </a:r>
            <a:endParaRPr lang="en-US" sz="1150"/>
          </a:p>
        </p:txBody>
      </p:sp>
      <p:sp>
        <p:nvSpPr>
          <p:cNvPr id="1806940630" name="Shape 23"/>
          <p:cNvSpPr/>
          <p:nvPr/>
        </p:nvSpPr>
        <p:spPr bwMode="auto">
          <a:xfrm>
            <a:off x="548640" y="4709160"/>
            <a:ext cx="5394960" cy="1188720"/>
          </a:xfrm>
          <a:prstGeom prst="rect">
            <a:avLst/>
          </a:prstGeom>
          <a:solidFill>
            <a:srgbClr val="FFFFFF"/>
          </a:solidFill>
          <a:ln w="12700">
            <a:solidFill>
              <a:srgbClr val="111111"/>
            </a:solidFill>
            <a:prstDash val="solid"/>
          </a:ln>
        </p:spPr>
      </p:sp>
      <p:sp>
        <p:nvSpPr>
          <p:cNvPr id="1504247095" name="Shape 24"/>
          <p:cNvSpPr/>
          <p:nvPr/>
        </p:nvSpPr>
        <p:spPr bwMode="auto">
          <a:xfrm>
            <a:off x="749808" y="4946904"/>
            <a:ext cx="713232" cy="713232"/>
          </a:xfrm>
          <a:prstGeom prst="rect">
            <a:avLst/>
          </a:prstGeom>
          <a:solidFill>
            <a:srgbClr val="D0111B"/>
          </a:solidFill>
          <a:ln/>
        </p:spPr>
      </p:sp>
      <p:pic>
        <p:nvPicPr>
          <p:cNvPr id="1851211484" name="Image 4" descr="preencoded.png"/>
          <p:cNvPicPr>
            <a:picLocks noChangeAspect="1"/>
          </p:cNvPicPr>
          <p:nvPr/>
        </p:nvPicPr>
        <p:blipFill rotWithShape="1">
          <a:blip r:embed="rId7"/>
          <a:stretch/>
        </p:blipFill>
        <p:spPr bwMode="auto">
          <a:xfrm>
            <a:off x="842528" y="5039624"/>
            <a:ext cx="527792" cy="527792"/>
          </a:xfrm>
          <a:prstGeom prst="rect">
            <a:avLst/>
          </a:prstGeom>
        </p:spPr>
      </p:pic>
      <p:sp>
        <p:nvSpPr>
          <p:cNvPr id="170220255" name="Text 25"/>
          <p:cNvSpPr/>
          <p:nvPr/>
        </p:nvSpPr>
        <p:spPr bwMode="auto">
          <a:xfrm>
            <a:off x="749808" y="566928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05</a:t>
            </a:r>
            <a:endParaRPr lang="en-US" sz="1000"/>
          </a:p>
        </p:txBody>
      </p:sp>
      <p:sp>
        <p:nvSpPr>
          <p:cNvPr id="207098573" name="Text 26"/>
          <p:cNvSpPr/>
          <p:nvPr/>
        </p:nvSpPr>
        <p:spPr bwMode="auto">
          <a:xfrm>
            <a:off x="1645920" y="4892039"/>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Umsetzung</a:t>
            </a:r>
            <a:endParaRPr lang="en-US" sz="1700"/>
          </a:p>
        </p:txBody>
      </p:sp>
      <p:sp>
        <p:nvSpPr>
          <p:cNvPr id="936890292" name="Text 27"/>
          <p:cNvSpPr/>
          <p:nvPr/>
        </p:nvSpPr>
        <p:spPr bwMode="auto">
          <a:xfrm>
            <a:off x="1645920" y="527608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Ablauf einer FTP-Sitzung</a:t>
            </a:r>
            <a:endParaRPr lang="en-US" sz="1150"/>
          </a:p>
        </p:txBody>
      </p:sp>
      <p:sp>
        <p:nvSpPr>
          <p:cNvPr id="361440715" name="Shape 28"/>
          <p:cNvSpPr/>
          <p:nvPr/>
        </p:nvSpPr>
        <p:spPr bwMode="auto">
          <a:xfrm>
            <a:off x="6400800" y="4709160"/>
            <a:ext cx="5394960" cy="1188720"/>
          </a:xfrm>
          <a:prstGeom prst="rect">
            <a:avLst/>
          </a:prstGeom>
          <a:solidFill>
            <a:srgbClr val="FFFFFF"/>
          </a:solidFill>
          <a:ln w="12700">
            <a:solidFill>
              <a:srgbClr val="111111"/>
            </a:solidFill>
            <a:prstDash val="solid"/>
          </a:ln>
        </p:spPr>
      </p:sp>
      <p:sp>
        <p:nvSpPr>
          <p:cNvPr id="1016862987" name="Shape 29"/>
          <p:cNvSpPr/>
          <p:nvPr/>
        </p:nvSpPr>
        <p:spPr bwMode="auto">
          <a:xfrm>
            <a:off x="6601968" y="4946904"/>
            <a:ext cx="713232" cy="713232"/>
          </a:xfrm>
          <a:prstGeom prst="rect">
            <a:avLst/>
          </a:prstGeom>
          <a:solidFill>
            <a:srgbClr val="111111"/>
          </a:solidFill>
          <a:ln/>
        </p:spPr>
      </p:sp>
      <p:pic>
        <p:nvPicPr>
          <p:cNvPr id="340318654" name="Image 5" descr="preencoded.png"/>
          <p:cNvPicPr>
            <a:picLocks noChangeAspect="1"/>
          </p:cNvPicPr>
          <p:nvPr/>
        </p:nvPicPr>
        <p:blipFill rotWithShape="1">
          <a:blip r:embed="rId8"/>
          <a:stretch/>
        </p:blipFill>
        <p:spPr bwMode="auto">
          <a:xfrm>
            <a:off x="6694688" y="5039624"/>
            <a:ext cx="527792" cy="527792"/>
          </a:xfrm>
          <a:prstGeom prst="rect">
            <a:avLst/>
          </a:prstGeom>
        </p:spPr>
      </p:pic>
      <p:sp>
        <p:nvSpPr>
          <p:cNvPr id="519597047" name="Text 30"/>
          <p:cNvSpPr/>
          <p:nvPr/>
        </p:nvSpPr>
        <p:spPr bwMode="auto">
          <a:xfrm>
            <a:off x="6601968" y="5669280"/>
            <a:ext cx="713232" cy="201168"/>
          </a:xfrm>
          <a:prstGeom prst="rect">
            <a:avLst/>
          </a:prstGeom>
          <a:noFill/>
          <a:ln/>
        </p:spPr>
        <p:txBody>
          <a:bodyPr wrap="square" rtlCol="0" anchor="ctr"/>
          <a:lstStyle/>
          <a:p>
            <a:pPr marL="0" indent="0" algn="ctr">
              <a:buNone/>
              <a:defRPr/>
            </a:pPr>
            <a:r>
              <a:rPr lang="en-US" sz="1000" b="1">
                <a:solidFill>
                  <a:srgbClr val="5A5A5A"/>
                </a:solidFill>
                <a:latin typeface="Calibri"/>
                <a:ea typeface="Calibri"/>
                <a:cs typeface="Calibri"/>
              </a:rPr>
              <a:t>06</a:t>
            </a:r>
            <a:endParaRPr lang="en-US" sz="1000"/>
          </a:p>
        </p:txBody>
      </p:sp>
      <p:sp>
        <p:nvSpPr>
          <p:cNvPr id="582861928" name="Text 31"/>
          <p:cNvSpPr/>
          <p:nvPr/>
        </p:nvSpPr>
        <p:spPr bwMode="auto">
          <a:xfrm>
            <a:off x="7498080" y="4892039"/>
            <a:ext cx="41148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Vorhandene Software</a:t>
            </a:r>
            <a:endParaRPr lang="en-US" sz="1700"/>
          </a:p>
        </p:txBody>
      </p:sp>
      <p:sp>
        <p:nvSpPr>
          <p:cNvPr id="957949936" name="Text 32"/>
          <p:cNvSpPr/>
          <p:nvPr/>
        </p:nvSpPr>
        <p:spPr bwMode="auto">
          <a:xfrm>
            <a:off x="7498080" y="5276088"/>
            <a:ext cx="4114800" cy="502920"/>
          </a:xfrm>
          <a:prstGeom prst="rect">
            <a:avLst/>
          </a:prstGeom>
          <a:noFill/>
          <a:ln/>
        </p:spPr>
        <p:txBody>
          <a:bodyPr wrap="square" rtlCol="0" anchor="ctr"/>
          <a:lstStyle/>
          <a:p>
            <a:pPr marL="0" indent="0">
              <a:buNone/>
              <a:defRPr/>
            </a:pPr>
            <a:r>
              <a:rPr lang="en-US" sz="1150">
                <a:solidFill>
                  <a:srgbClr val="5A5A5A"/>
                </a:solidFill>
                <a:latin typeface="Calibri"/>
                <a:ea typeface="Calibri"/>
                <a:cs typeface="Calibri"/>
              </a:rPr>
              <a:t>Server, Clients und Tools</a:t>
            </a:r>
            <a:endParaRPr lang="en-US" sz="1150"/>
          </a:p>
        </p:txBody>
      </p:sp>
      <p:sp>
        <p:nvSpPr>
          <p:cNvPr id="1917972067" name="Text 33"/>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716711568" name="Text 34"/>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664274121" name="Shape 0"/>
          <p:cNvSpPr/>
          <p:nvPr/>
        </p:nvSpPr>
        <p:spPr bwMode="auto">
          <a:xfrm>
            <a:off x="548640" y="512064"/>
            <a:ext cx="128016" cy="128016"/>
          </a:xfrm>
          <a:prstGeom prst="rect">
            <a:avLst/>
          </a:prstGeom>
          <a:solidFill>
            <a:srgbClr val="D0111B"/>
          </a:solidFill>
          <a:ln/>
        </p:spPr>
      </p:sp>
      <p:sp>
        <p:nvSpPr>
          <p:cNvPr id="963689059"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01 · GRUNDLAGEN</a:t>
            </a:r>
            <a:endParaRPr lang="en-US" sz="1300"/>
          </a:p>
        </p:txBody>
      </p:sp>
      <p:sp>
        <p:nvSpPr>
          <p:cNvPr id="1972983514" name="Text 2"/>
          <p:cNvSpPr/>
          <p:nvPr/>
        </p:nvSpPr>
        <p:spPr bwMode="auto">
          <a:xfrm>
            <a:off x="548640" y="777240"/>
            <a:ext cx="7315200" cy="640080"/>
          </a:xfrm>
          <a:prstGeom prst="rect">
            <a:avLst/>
          </a:prstGeom>
          <a:noFill/>
          <a:ln/>
        </p:spPr>
        <p:txBody>
          <a:bodyPr wrap="square" rtlCol="0" anchor="ctr"/>
          <a:lstStyle/>
          <a:p>
            <a:pPr marL="0" indent="0">
              <a:buNone/>
              <a:defRPr/>
            </a:pPr>
            <a:r>
              <a:rPr lang="en-US" sz="3200" b="1">
                <a:solidFill>
                  <a:srgbClr val="111111"/>
                </a:solidFill>
                <a:latin typeface="Cambria"/>
                <a:ea typeface="Cambria"/>
                <a:cs typeface="Cambria"/>
              </a:rPr>
              <a:t>Was ist FTP?</a:t>
            </a:r>
            <a:endParaRPr lang="en-US" sz="3200"/>
          </a:p>
        </p:txBody>
      </p:sp>
      <p:sp>
        <p:nvSpPr>
          <p:cNvPr id="207590456" name="Text 3"/>
          <p:cNvSpPr/>
          <p:nvPr/>
        </p:nvSpPr>
        <p:spPr bwMode="auto">
          <a:xfrm>
            <a:off x="548640" y="1554480"/>
            <a:ext cx="5577840" cy="1005840"/>
          </a:xfrm>
          <a:prstGeom prst="rect">
            <a:avLst/>
          </a:prstGeom>
          <a:noFill/>
          <a:ln/>
        </p:spPr>
        <p:txBody>
          <a:bodyPr wrap="square" rtlCol="0" anchor="t"/>
          <a:lstStyle/>
          <a:p>
            <a:pPr marL="0" indent="0">
              <a:buNone/>
              <a:defRPr/>
            </a:pPr>
            <a:r>
              <a:rPr lang="en-US" sz="1500" b="1">
                <a:solidFill>
                  <a:srgbClr val="D0111B"/>
                </a:solidFill>
                <a:latin typeface="Calibri"/>
                <a:ea typeface="Calibri"/>
                <a:cs typeface="Calibri"/>
              </a:rPr>
              <a:t>File Transfer Protocol</a:t>
            </a:r>
            <a:r>
              <a:rPr lang="en-US" sz="1500">
                <a:solidFill>
                  <a:srgbClr val="111111"/>
                </a:solidFill>
                <a:latin typeface="Calibri"/>
                <a:ea typeface="Calibri"/>
                <a:cs typeface="Calibri"/>
              </a:rPr>
              <a:t> – Anwendungsprotokoll der TCP/IP-Familie zur Übertragung von Dateien zwischen Client und Server.</a:t>
            </a:r>
            <a:endParaRPr lang="en-US" sz="1500"/>
          </a:p>
        </p:txBody>
      </p:sp>
      <p:sp>
        <p:nvSpPr>
          <p:cNvPr id="193223902" name="Shape 4"/>
          <p:cNvSpPr/>
          <p:nvPr/>
        </p:nvSpPr>
        <p:spPr bwMode="auto">
          <a:xfrm>
            <a:off x="548640" y="2706624"/>
            <a:ext cx="109728" cy="109728"/>
          </a:xfrm>
          <a:prstGeom prst="rect">
            <a:avLst/>
          </a:prstGeom>
          <a:solidFill>
            <a:srgbClr val="D0111B"/>
          </a:solidFill>
          <a:ln/>
        </p:spPr>
      </p:sp>
      <p:sp>
        <p:nvSpPr>
          <p:cNvPr id="842700583" name="Text 5"/>
          <p:cNvSpPr/>
          <p:nvPr/>
        </p:nvSpPr>
        <p:spPr bwMode="auto">
          <a:xfrm>
            <a:off x="822960" y="2651760"/>
            <a:ext cx="5303520" cy="457200"/>
          </a:xfrm>
          <a:prstGeom prst="rect">
            <a:avLst/>
          </a:prstGeom>
          <a:noFill/>
          <a:ln/>
        </p:spPr>
        <p:txBody>
          <a:bodyPr wrap="square" rtlCol="0" anchor="ctr"/>
          <a:lstStyle/>
          <a:p>
            <a:pPr marL="0" indent="0">
              <a:buNone/>
              <a:defRPr/>
            </a:pPr>
            <a:r>
              <a:rPr lang="en-US" sz="1400">
                <a:solidFill>
                  <a:srgbClr val="111111"/>
                </a:solidFill>
                <a:latin typeface="Calibri"/>
                <a:ea typeface="Calibri"/>
                <a:cs typeface="Calibri"/>
              </a:rPr>
              <a:t>Standardisiert in RFC 959 (1985)</a:t>
            </a:r>
            <a:endParaRPr lang="en-US" sz="1400"/>
          </a:p>
        </p:txBody>
      </p:sp>
      <p:sp>
        <p:nvSpPr>
          <p:cNvPr id="423208738" name="Shape 6"/>
          <p:cNvSpPr/>
          <p:nvPr/>
        </p:nvSpPr>
        <p:spPr bwMode="auto">
          <a:xfrm>
            <a:off x="548640" y="3273552"/>
            <a:ext cx="109728" cy="109728"/>
          </a:xfrm>
          <a:prstGeom prst="rect">
            <a:avLst/>
          </a:prstGeom>
          <a:solidFill>
            <a:srgbClr val="D0111B"/>
          </a:solidFill>
          <a:ln/>
        </p:spPr>
      </p:sp>
      <p:sp>
        <p:nvSpPr>
          <p:cNvPr id="1172204077" name="Text 7"/>
          <p:cNvSpPr/>
          <p:nvPr/>
        </p:nvSpPr>
        <p:spPr bwMode="auto">
          <a:xfrm>
            <a:off x="822960" y="3218688"/>
            <a:ext cx="5303520" cy="457200"/>
          </a:xfrm>
          <a:prstGeom prst="rect">
            <a:avLst/>
          </a:prstGeom>
          <a:noFill/>
          <a:ln/>
        </p:spPr>
        <p:txBody>
          <a:bodyPr wrap="square" rtlCol="0" anchor="ctr"/>
          <a:lstStyle/>
          <a:p>
            <a:pPr marL="0" indent="0">
              <a:buNone/>
              <a:defRPr/>
            </a:pPr>
            <a:r>
              <a:rPr lang="en-US" sz="1400">
                <a:solidFill>
                  <a:srgbClr val="111111"/>
                </a:solidFill>
                <a:latin typeface="Calibri"/>
                <a:ea typeface="Calibri"/>
                <a:cs typeface="Calibri"/>
              </a:rPr>
              <a:t>Arbeitet auf der Anwendungsschicht (Schicht 7, OSI-Modell)</a:t>
            </a:r>
            <a:endParaRPr lang="en-US" sz="1400"/>
          </a:p>
        </p:txBody>
      </p:sp>
      <p:sp>
        <p:nvSpPr>
          <p:cNvPr id="2141038875" name="Shape 8"/>
          <p:cNvSpPr/>
          <p:nvPr/>
        </p:nvSpPr>
        <p:spPr bwMode="auto">
          <a:xfrm>
            <a:off x="548640" y="3840480"/>
            <a:ext cx="109728" cy="109728"/>
          </a:xfrm>
          <a:prstGeom prst="rect">
            <a:avLst/>
          </a:prstGeom>
          <a:solidFill>
            <a:srgbClr val="D0111B"/>
          </a:solidFill>
          <a:ln/>
        </p:spPr>
      </p:sp>
      <p:sp>
        <p:nvSpPr>
          <p:cNvPr id="635133990" name="Text 9"/>
          <p:cNvSpPr/>
          <p:nvPr/>
        </p:nvSpPr>
        <p:spPr bwMode="auto">
          <a:xfrm>
            <a:off x="822960" y="3785616"/>
            <a:ext cx="5303520" cy="457200"/>
          </a:xfrm>
          <a:prstGeom prst="rect">
            <a:avLst/>
          </a:prstGeom>
          <a:noFill/>
          <a:ln/>
        </p:spPr>
        <p:txBody>
          <a:bodyPr wrap="square" rtlCol="0" anchor="ctr"/>
          <a:lstStyle/>
          <a:p>
            <a:pPr marL="0" indent="0">
              <a:buNone/>
              <a:defRPr/>
            </a:pPr>
            <a:r>
              <a:rPr lang="en-US" sz="1400">
                <a:solidFill>
                  <a:srgbClr val="111111"/>
                </a:solidFill>
                <a:latin typeface="Calibri"/>
                <a:ea typeface="Calibri"/>
                <a:cs typeface="Calibri"/>
              </a:rPr>
              <a:t>Nutzt TCP als zuverlässigen Transport</a:t>
            </a:r>
            <a:endParaRPr lang="en-US" sz="1400"/>
          </a:p>
        </p:txBody>
      </p:sp>
      <p:sp>
        <p:nvSpPr>
          <p:cNvPr id="1629136493" name="Shape 10"/>
          <p:cNvSpPr/>
          <p:nvPr/>
        </p:nvSpPr>
        <p:spPr bwMode="auto">
          <a:xfrm>
            <a:off x="548640" y="4407408"/>
            <a:ext cx="109728" cy="109728"/>
          </a:xfrm>
          <a:prstGeom prst="rect">
            <a:avLst/>
          </a:prstGeom>
          <a:solidFill>
            <a:srgbClr val="D0111B"/>
          </a:solidFill>
          <a:ln/>
        </p:spPr>
      </p:sp>
      <p:sp>
        <p:nvSpPr>
          <p:cNvPr id="1992172197" name="Text 11"/>
          <p:cNvSpPr/>
          <p:nvPr/>
        </p:nvSpPr>
        <p:spPr bwMode="auto">
          <a:xfrm>
            <a:off x="822960" y="4352544"/>
            <a:ext cx="5303520" cy="457200"/>
          </a:xfrm>
          <a:prstGeom prst="rect">
            <a:avLst/>
          </a:prstGeom>
          <a:noFill/>
          <a:ln/>
        </p:spPr>
        <p:txBody>
          <a:bodyPr wrap="square" rtlCol="0" anchor="ctr"/>
          <a:lstStyle/>
          <a:p>
            <a:pPr marL="0" indent="0">
              <a:buNone/>
              <a:defRPr/>
            </a:pPr>
            <a:r>
              <a:rPr lang="en-US" sz="1400">
                <a:solidFill>
                  <a:srgbClr val="111111"/>
                </a:solidFill>
                <a:latin typeface="Calibri"/>
                <a:ea typeface="Calibri"/>
                <a:cs typeface="Calibri"/>
              </a:rPr>
              <a:t>Client-Server-Architektur mit Authentifizierung</a:t>
            </a:r>
            <a:endParaRPr lang="en-US" sz="1400"/>
          </a:p>
        </p:txBody>
      </p:sp>
      <p:sp>
        <p:nvSpPr>
          <p:cNvPr id="1942946865" name="Shape 12"/>
          <p:cNvSpPr/>
          <p:nvPr/>
        </p:nvSpPr>
        <p:spPr bwMode="auto">
          <a:xfrm>
            <a:off x="6675120" y="1600200"/>
            <a:ext cx="4937760" cy="4160519"/>
          </a:xfrm>
          <a:prstGeom prst="rect">
            <a:avLst/>
          </a:prstGeom>
          <a:solidFill>
            <a:srgbClr val="111111"/>
          </a:solidFill>
          <a:ln/>
        </p:spPr>
      </p:sp>
      <p:sp>
        <p:nvSpPr>
          <p:cNvPr id="533773390" name="Shape 13"/>
          <p:cNvSpPr/>
          <p:nvPr/>
        </p:nvSpPr>
        <p:spPr bwMode="auto">
          <a:xfrm>
            <a:off x="6675120" y="1600200"/>
            <a:ext cx="109728" cy="4160519"/>
          </a:xfrm>
          <a:prstGeom prst="rect">
            <a:avLst/>
          </a:prstGeom>
          <a:solidFill>
            <a:srgbClr val="D0111B"/>
          </a:solidFill>
          <a:ln/>
        </p:spPr>
      </p:sp>
      <p:sp>
        <p:nvSpPr>
          <p:cNvPr id="2051868955" name="Text 14"/>
          <p:cNvSpPr/>
          <p:nvPr/>
        </p:nvSpPr>
        <p:spPr bwMode="auto">
          <a:xfrm>
            <a:off x="7040880" y="1783080"/>
            <a:ext cx="4297680" cy="320040"/>
          </a:xfrm>
          <a:prstGeom prst="rect">
            <a:avLst/>
          </a:prstGeom>
          <a:noFill/>
          <a:ln/>
        </p:spPr>
        <p:txBody>
          <a:bodyPr wrap="square" rtlCol="0" anchor="ctr"/>
          <a:lstStyle/>
          <a:p>
            <a:pPr marL="0" indent="0">
              <a:buNone/>
              <a:defRPr/>
            </a:pPr>
            <a:r>
              <a:rPr lang="en-US" sz="1200" b="1" spc="200">
                <a:solidFill>
                  <a:srgbClr val="D0111B"/>
                </a:solidFill>
                <a:latin typeface="Calibri"/>
                <a:ea typeface="Calibri"/>
                <a:cs typeface="Calibri"/>
              </a:rPr>
              <a:t>ZWEI VERBINDUNGEN</a:t>
            </a:r>
            <a:endParaRPr lang="en-US" sz="1200"/>
          </a:p>
        </p:txBody>
      </p:sp>
      <p:sp>
        <p:nvSpPr>
          <p:cNvPr id="1327540192" name="Shape 15"/>
          <p:cNvSpPr/>
          <p:nvPr/>
        </p:nvSpPr>
        <p:spPr bwMode="auto">
          <a:xfrm>
            <a:off x="7086600" y="2286000"/>
            <a:ext cx="594360" cy="594360"/>
          </a:xfrm>
          <a:prstGeom prst="rect">
            <a:avLst/>
          </a:prstGeom>
          <a:solidFill>
            <a:srgbClr val="D0111B"/>
          </a:solidFill>
          <a:ln/>
        </p:spPr>
      </p:sp>
      <p:pic>
        <p:nvPicPr>
          <p:cNvPr id="357295998" name="Image 0" descr="preencoded.png"/>
          <p:cNvPicPr>
            <a:picLocks noChangeAspect="1"/>
          </p:cNvPicPr>
          <p:nvPr/>
        </p:nvPicPr>
        <p:blipFill rotWithShape="1">
          <a:blip r:embed="rId3"/>
          <a:stretch/>
        </p:blipFill>
        <p:spPr bwMode="auto">
          <a:xfrm>
            <a:off x="7163867" y="2363267"/>
            <a:ext cx="439826" cy="439826"/>
          </a:xfrm>
          <a:prstGeom prst="rect">
            <a:avLst/>
          </a:prstGeom>
        </p:spPr>
      </p:pic>
      <p:sp>
        <p:nvSpPr>
          <p:cNvPr id="469316068" name="Text 16"/>
          <p:cNvSpPr/>
          <p:nvPr/>
        </p:nvSpPr>
        <p:spPr bwMode="auto">
          <a:xfrm>
            <a:off x="6858000" y="2926080"/>
            <a:ext cx="1188720" cy="274320"/>
          </a:xfrm>
          <a:prstGeom prst="rect">
            <a:avLst/>
          </a:prstGeom>
          <a:noFill/>
          <a:ln/>
        </p:spPr>
        <p:txBody>
          <a:bodyPr wrap="square" rtlCol="0" anchor="ctr"/>
          <a:lstStyle/>
          <a:p>
            <a:pPr marL="0" indent="0" algn="ctr">
              <a:buNone/>
              <a:defRPr/>
            </a:pPr>
            <a:r>
              <a:rPr lang="en-US" sz="1200" b="1">
                <a:solidFill>
                  <a:srgbClr val="FFFFFF"/>
                </a:solidFill>
                <a:latin typeface="Calibri"/>
                <a:ea typeface="Calibri"/>
                <a:cs typeface="Calibri"/>
              </a:rPr>
              <a:t>Client</a:t>
            </a:r>
            <a:endParaRPr lang="en-US" sz="1200"/>
          </a:p>
        </p:txBody>
      </p:sp>
      <p:sp>
        <p:nvSpPr>
          <p:cNvPr id="202655475" name="Shape 17"/>
          <p:cNvSpPr/>
          <p:nvPr/>
        </p:nvSpPr>
        <p:spPr bwMode="auto">
          <a:xfrm>
            <a:off x="10607040" y="2286000"/>
            <a:ext cx="594360" cy="594360"/>
          </a:xfrm>
          <a:prstGeom prst="rect">
            <a:avLst/>
          </a:prstGeom>
          <a:solidFill>
            <a:srgbClr val="D0111B"/>
          </a:solidFill>
          <a:ln/>
        </p:spPr>
      </p:sp>
      <p:pic>
        <p:nvPicPr>
          <p:cNvPr id="382514197" name="Image 1" descr="preencoded.png"/>
          <p:cNvPicPr>
            <a:picLocks noChangeAspect="1"/>
          </p:cNvPicPr>
          <p:nvPr/>
        </p:nvPicPr>
        <p:blipFill rotWithShape="1">
          <a:blip r:embed="rId4"/>
          <a:stretch/>
        </p:blipFill>
        <p:spPr bwMode="auto">
          <a:xfrm>
            <a:off x="10684307" y="2363267"/>
            <a:ext cx="439826" cy="439826"/>
          </a:xfrm>
          <a:prstGeom prst="rect">
            <a:avLst/>
          </a:prstGeom>
        </p:spPr>
      </p:pic>
      <p:sp>
        <p:nvSpPr>
          <p:cNvPr id="1991291339" name="Text 18"/>
          <p:cNvSpPr/>
          <p:nvPr/>
        </p:nvSpPr>
        <p:spPr bwMode="auto">
          <a:xfrm>
            <a:off x="10378440" y="2926080"/>
            <a:ext cx="1188720" cy="274320"/>
          </a:xfrm>
          <a:prstGeom prst="rect">
            <a:avLst/>
          </a:prstGeom>
          <a:noFill/>
          <a:ln/>
        </p:spPr>
        <p:txBody>
          <a:bodyPr wrap="square" rtlCol="0" anchor="ctr"/>
          <a:lstStyle/>
          <a:p>
            <a:pPr marL="0" indent="0" algn="ctr">
              <a:buNone/>
              <a:defRPr/>
            </a:pPr>
            <a:r>
              <a:rPr lang="en-US" sz="1200" b="1">
                <a:solidFill>
                  <a:srgbClr val="FFFFFF"/>
                </a:solidFill>
                <a:latin typeface="Calibri"/>
                <a:ea typeface="Calibri"/>
                <a:cs typeface="Calibri"/>
              </a:rPr>
              <a:t>Server</a:t>
            </a:r>
            <a:endParaRPr lang="en-US" sz="1200"/>
          </a:p>
        </p:txBody>
      </p:sp>
      <p:sp>
        <p:nvSpPr>
          <p:cNvPr id="699456354" name="Shape 19"/>
          <p:cNvSpPr/>
          <p:nvPr/>
        </p:nvSpPr>
        <p:spPr bwMode="auto">
          <a:xfrm>
            <a:off x="7772400" y="2578608"/>
            <a:ext cx="2743200" cy="0"/>
          </a:xfrm>
          <a:prstGeom prst="line">
            <a:avLst/>
          </a:prstGeom>
          <a:noFill/>
          <a:ln w="25400">
            <a:solidFill>
              <a:srgbClr val="FFFFFF"/>
            </a:solidFill>
            <a:prstDash val="solid"/>
          </a:ln>
        </p:spPr>
      </p:sp>
      <p:sp>
        <p:nvSpPr>
          <p:cNvPr id="729733309" name="Text 20"/>
          <p:cNvSpPr/>
          <p:nvPr/>
        </p:nvSpPr>
        <p:spPr bwMode="auto">
          <a:xfrm>
            <a:off x="6995160" y="2651760"/>
            <a:ext cx="4389120" cy="274320"/>
          </a:xfrm>
          <a:prstGeom prst="rect">
            <a:avLst/>
          </a:prstGeom>
          <a:noFill/>
          <a:ln/>
        </p:spPr>
        <p:txBody>
          <a:bodyPr wrap="square" rtlCol="0" anchor="ctr"/>
          <a:lstStyle/>
          <a:p>
            <a:pPr marL="0" indent="0" algn="ctr">
              <a:buNone/>
              <a:defRPr/>
            </a:pPr>
            <a:r>
              <a:rPr lang="en-US" sz="1050">
                <a:solidFill>
                  <a:srgbClr val="E6E6E6"/>
                </a:solidFill>
                <a:latin typeface="Calibri"/>
                <a:ea typeface="Calibri"/>
                <a:cs typeface="Calibri"/>
              </a:rPr>
              <a:t>Control Connection — Port 21 (Befehle)</a:t>
            </a:r>
            <a:endParaRPr lang="en-US" sz="1050"/>
          </a:p>
        </p:txBody>
      </p:sp>
      <p:sp>
        <p:nvSpPr>
          <p:cNvPr id="134750478" name="Shape 21"/>
          <p:cNvSpPr/>
          <p:nvPr/>
        </p:nvSpPr>
        <p:spPr bwMode="auto">
          <a:xfrm>
            <a:off x="7772400" y="3520440"/>
            <a:ext cx="2743200" cy="0"/>
          </a:xfrm>
          <a:prstGeom prst="line">
            <a:avLst/>
          </a:prstGeom>
          <a:noFill/>
          <a:ln w="25400">
            <a:solidFill>
              <a:srgbClr val="D0111B"/>
            </a:solidFill>
            <a:prstDash val="dash"/>
          </a:ln>
        </p:spPr>
      </p:sp>
      <p:sp>
        <p:nvSpPr>
          <p:cNvPr id="291186812" name="Text 22"/>
          <p:cNvSpPr/>
          <p:nvPr/>
        </p:nvSpPr>
        <p:spPr bwMode="auto">
          <a:xfrm>
            <a:off x="6995160" y="3593592"/>
            <a:ext cx="4389120" cy="274320"/>
          </a:xfrm>
          <a:prstGeom prst="rect">
            <a:avLst/>
          </a:prstGeom>
          <a:noFill/>
          <a:ln/>
        </p:spPr>
        <p:txBody>
          <a:bodyPr wrap="square" rtlCol="0" anchor="ctr"/>
          <a:lstStyle/>
          <a:p>
            <a:pPr marL="0" indent="0" algn="ctr">
              <a:buNone/>
              <a:defRPr/>
            </a:pPr>
            <a:r>
              <a:rPr lang="en-US" sz="1050">
                <a:solidFill>
                  <a:srgbClr val="E6E6E6"/>
                </a:solidFill>
                <a:latin typeface="Calibri"/>
                <a:ea typeface="Calibri"/>
                <a:cs typeface="Calibri"/>
              </a:rPr>
              <a:t>Data Connection — Port 20 / dynamisch (Dateien)</a:t>
            </a:r>
            <a:endParaRPr lang="en-US" sz="1050"/>
          </a:p>
        </p:txBody>
      </p:sp>
      <p:sp>
        <p:nvSpPr>
          <p:cNvPr id="91293247" name="Text 23"/>
          <p:cNvSpPr/>
          <p:nvPr/>
        </p:nvSpPr>
        <p:spPr bwMode="auto">
          <a:xfrm>
            <a:off x="7040880" y="4114800"/>
            <a:ext cx="4206240" cy="1417320"/>
          </a:xfrm>
          <a:prstGeom prst="rect">
            <a:avLst/>
          </a:prstGeom>
          <a:noFill/>
          <a:ln/>
        </p:spPr>
        <p:txBody>
          <a:bodyPr wrap="square" rtlCol="0" anchor="ctr"/>
          <a:lstStyle/>
          <a:p>
            <a:pPr marL="0" indent="0">
              <a:lnSpc>
                <a:spcPct val="125000"/>
              </a:lnSpc>
              <a:buNone/>
              <a:defRPr/>
            </a:pPr>
            <a:r>
              <a:rPr lang="en-US" sz="1150">
                <a:solidFill>
                  <a:srgbClr val="D9D9D9"/>
                </a:solidFill>
                <a:latin typeface="Calibri"/>
                <a:ea typeface="Calibri"/>
                <a:cs typeface="Calibri"/>
              </a:rPr>
              <a:t>Aktiver Modus: Server öffnet die Datenverbindung.</a:t>
            </a:r>
            <a:endParaRPr lang="en-US" sz="1150"/>
          </a:p>
          <a:p>
            <a:pPr marL="0" indent="0">
              <a:lnSpc>
                <a:spcPct val="125000"/>
              </a:lnSpc>
              <a:buNone/>
              <a:defRPr/>
            </a:pPr>
            <a:r>
              <a:rPr lang="en-US" sz="1150">
                <a:solidFill>
                  <a:srgbClr val="D9D9D9"/>
                </a:solidFill>
                <a:latin typeface="Calibri"/>
                <a:ea typeface="Calibri"/>
                <a:cs typeface="Calibri"/>
              </a:rPr>
              <a:t>Passiver Modus: Client öffnet beide Verbindungen (firewall-freundlicher).</a:t>
            </a:r>
            <a:endParaRPr lang="en-US" sz="1150"/>
          </a:p>
        </p:txBody>
      </p:sp>
      <p:sp>
        <p:nvSpPr>
          <p:cNvPr id="905880563" name="Text 24"/>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1456843789" name="Text 25"/>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111111"/>
        </a:solidFill>
      </p:bgPr>
    </p:bg>
    <p:spTree>
      <p:nvGrpSpPr>
        <p:cNvPr id="1" name=""/>
        <p:cNvGrpSpPr/>
        <p:nvPr/>
      </p:nvGrpSpPr>
      <p:grpSpPr bwMode="auto">
        <a:xfrm>
          <a:off x="0" y="0"/>
          <a:ext cx="0" cy="0"/>
          <a:chOff x="0" y="0"/>
          <a:chExt cx="0" cy="0"/>
        </a:xfrm>
      </p:grpSpPr>
      <p:sp>
        <p:nvSpPr>
          <p:cNvPr id="1773661689" name="Shape 0"/>
          <p:cNvSpPr/>
          <p:nvPr/>
        </p:nvSpPr>
        <p:spPr bwMode="auto">
          <a:xfrm>
            <a:off x="548640" y="512064"/>
            <a:ext cx="128016" cy="128016"/>
          </a:xfrm>
          <a:prstGeom prst="rect">
            <a:avLst/>
          </a:prstGeom>
          <a:solidFill>
            <a:srgbClr val="D0111B"/>
          </a:solidFill>
          <a:ln/>
        </p:spPr>
      </p:sp>
      <p:sp>
        <p:nvSpPr>
          <p:cNvPr id="378232787"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FFFFFF"/>
                </a:solidFill>
                <a:latin typeface="Calibri"/>
                <a:ea typeface="Calibri"/>
                <a:cs typeface="Calibri"/>
              </a:rPr>
              <a:t>02 · GESCHICHTE</a:t>
            </a:r>
            <a:endParaRPr lang="en-US" sz="1300"/>
          </a:p>
        </p:txBody>
      </p:sp>
      <p:sp>
        <p:nvSpPr>
          <p:cNvPr id="2025939569"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200" b="1">
                <a:solidFill>
                  <a:srgbClr val="FFFFFF"/>
                </a:solidFill>
                <a:latin typeface="Cambria"/>
                <a:ea typeface="Cambria"/>
                <a:cs typeface="Cambria"/>
              </a:rPr>
              <a:t>Von 1971 bis heute</a:t>
            </a:r>
            <a:endParaRPr lang="en-US" sz="3200"/>
          </a:p>
        </p:txBody>
      </p:sp>
      <p:sp>
        <p:nvSpPr>
          <p:cNvPr id="792503961" name="Shape 3"/>
          <p:cNvSpPr/>
          <p:nvPr/>
        </p:nvSpPr>
        <p:spPr bwMode="auto">
          <a:xfrm>
            <a:off x="822960" y="3246120"/>
            <a:ext cx="10698480" cy="0"/>
          </a:xfrm>
          <a:prstGeom prst="line">
            <a:avLst/>
          </a:prstGeom>
          <a:noFill/>
          <a:ln w="19050">
            <a:solidFill>
              <a:srgbClr val="FFFFFF"/>
            </a:solidFill>
            <a:prstDash val="solid"/>
          </a:ln>
        </p:spPr>
      </p:sp>
      <p:sp>
        <p:nvSpPr>
          <p:cNvPr id="1870434340" name="Shape 4"/>
          <p:cNvSpPr/>
          <p:nvPr/>
        </p:nvSpPr>
        <p:spPr bwMode="auto">
          <a:xfrm>
            <a:off x="740664" y="3163824"/>
            <a:ext cx="164592" cy="164592"/>
          </a:xfrm>
          <a:prstGeom prst="rect">
            <a:avLst/>
          </a:prstGeom>
          <a:solidFill>
            <a:srgbClr val="D0111B"/>
          </a:solidFill>
          <a:ln/>
        </p:spPr>
      </p:sp>
      <p:sp>
        <p:nvSpPr>
          <p:cNvPr id="771312591" name="Text 5"/>
          <p:cNvSpPr/>
          <p:nvPr/>
        </p:nvSpPr>
        <p:spPr bwMode="auto">
          <a:xfrm>
            <a:off x="457200" y="2194560"/>
            <a:ext cx="2148840" cy="365760"/>
          </a:xfrm>
          <a:prstGeom prst="rect">
            <a:avLst/>
          </a:prstGeom>
          <a:noFill/>
          <a:ln/>
        </p:spPr>
        <p:txBody>
          <a:bodyPr wrap="square" rtlCol="0" anchor="ctr"/>
          <a:lstStyle/>
          <a:p>
            <a:pPr marL="0" indent="0" algn="ctr">
              <a:buNone/>
              <a:defRPr/>
            </a:pPr>
            <a:r>
              <a:rPr lang="en-US" sz="2000" b="1">
                <a:solidFill>
                  <a:srgbClr val="D0111B"/>
                </a:solidFill>
                <a:latin typeface="Cambria"/>
                <a:ea typeface="Cambria"/>
                <a:cs typeface="Cambria"/>
              </a:rPr>
              <a:t>1971</a:t>
            </a:r>
            <a:endParaRPr lang="en-US" sz="2000"/>
          </a:p>
        </p:txBody>
      </p:sp>
      <p:sp>
        <p:nvSpPr>
          <p:cNvPr id="1798138726" name="Text 6"/>
          <p:cNvSpPr/>
          <p:nvPr/>
        </p:nvSpPr>
        <p:spPr bwMode="auto">
          <a:xfrm>
            <a:off x="457200" y="2587752"/>
            <a:ext cx="2148840" cy="594360"/>
          </a:xfrm>
          <a:prstGeom prst="rect">
            <a:avLst/>
          </a:prstGeom>
          <a:noFill/>
          <a:ln/>
        </p:spPr>
        <p:txBody>
          <a:bodyPr wrap="square" rtlCol="0" anchor="ctr"/>
          <a:lstStyle/>
          <a:p>
            <a:pPr marL="0" indent="0" algn="ctr">
              <a:buNone/>
              <a:defRPr/>
            </a:pPr>
            <a:r>
              <a:rPr lang="en-US" sz="1050">
                <a:solidFill>
                  <a:srgbClr val="D9D9D9"/>
                </a:solidFill>
                <a:latin typeface="Calibri"/>
                <a:ea typeface="Calibri"/>
                <a:cs typeface="Calibri"/>
              </a:rPr>
              <a:t>Erste Spezifikation (RFC 114), Abhay Bhushan, MIT</a:t>
            </a:r>
            <a:endParaRPr lang="en-US" sz="1050"/>
          </a:p>
        </p:txBody>
      </p:sp>
      <p:sp>
        <p:nvSpPr>
          <p:cNvPr id="726899671" name="Shape 7"/>
          <p:cNvSpPr/>
          <p:nvPr/>
        </p:nvSpPr>
        <p:spPr bwMode="auto">
          <a:xfrm>
            <a:off x="3415284" y="3163824"/>
            <a:ext cx="164592" cy="164592"/>
          </a:xfrm>
          <a:prstGeom prst="rect">
            <a:avLst/>
          </a:prstGeom>
          <a:solidFill>
            <a:srgbClr val="D0111B"/>
          </a:solidFill>
          <a:ln/>
        </p:spPr>
      </p:sp>
      <p:sp>
        <p:nvSpPr>
          <p:cNvPr id="1264350902" name="Text 8"/>
          <p:cNvSpPr/>
          <p:nvPr/>
        </p:nvSpPr>
        <p:spPr bwMode="auto">
          <a:xfrm>
            <a:off x="2423160" y="3474720"/>
            <a:ext cx="2148840" cy="365760"/>
          </a:xfrm>
          <a:prstGeom prst="rect">
            <a:avLst/>
          </a:prstGeom>
          <a:noFill/>
          <a:ln/>
        </p:spPr>
        <p:txBody>
          <a:bodyPr wrap="square" rtlCol="0" anchor="ctr"/>
          <a:lstStyle/>
          <a:p>
            <a:pPr marL="0" indent="0" algn="ctr">
              <a:buNone/>
              <a:defRPr/>
            </a:pPr>
            <a:r>
              <a:rPr lang="en-US" sz="2000" b="1">
                <a:solidFill>
                  <a:srgbClr val="D0111B"/>
                </a:solidFill>
                <a:latin typeface="Cambria"/>
                <a:ea typeface="Cambria"/>
                <a:cs typeface="Cambria"/>
              </a:rPr>
              <a:t>1980</a:t>
            </a:r>
            <a:endParaRPr lang="en-US" sz="2000"/>
          </a:p>
        </p:txBody>
      </p:sp>
      <p:sp>
        <p:nvSpPr>
          <p:cNvPr id="1470046259" name="Text 9"/>
          <p:cNvSpPr/>
          <p:nvPr/>
        </p:nvSpPr>
        <p:spPr bwMode="auto">
          <a:xfrm>
            <a:off x="2423160" y="3840480"/>
            <a:ext cx="2148840" cy="685800"/>
          </a:xfrm>
          <a:prstGeom prst="rect">
            <a:avLst/>
          </a:prstGeom>
          <a:noFill/>
          <a:ln/>
        </p:spPr>
        <p:txBody>
          <a:bodyPr wrap="square" rtlCol="0" anchor="ctr"/>
          <a:lstStyle/>
          <a:p>
            <a:pPr marL="0" indent="0" algn="ctr">
              <a:buNone/>
              <a:defRPr/>
            </a:pPr>
            <a:r>
              <a:rPr lang="en-US" sz="1050">
                <a:solidFill>
                  <a:srgbClr val="D9D9D9"/>
                </a:solidFill>
                <a:latin typeface="Calibri"/>
                <a:ea typeface="Calibri"/>
                <a:cs typeface="Calibri"/>
              </a:rPr>
              <a:t>Anpassung an TCP (RFC 765)</a:t>
            </a:r>
            <a:endParaRPr lang="en-US" sz="1050"/>
          </a:p>
        </p:txBody>
      </p:sp>
      <p:sp>
        <p:nvSpPr>
          <p:cNvPr id="1663007747" name="Shape 10"/>
          <p:cNvSpPr/>
          <p:nvPr/>
        </p:nvSpPr>
        <p:spPr bwMode="auto">
          <a:xfrm>
            <a:off x="6089904" y="3163824"/>
            <a:ext cx="164592" cy="164592"/>
          </a:xfrm>
          <a:prstGeom prst="rect">
            <a:avLst/>
          </a:prstGeom>
          <a:solidFill>
            <a:srgbClr val="D0111B"/>
          </a:solidFill>
          <a:ln/>
        </p:spPr>
      </p:sp>
      <p:sp>
        <p:nvSpPr>
          <p:cNvPr id="402358349" name="Text 11"/>
          <p:cNvSpPr/>
          <p:nvPr/>
        </p:nvSpPr>
        <p:spPr bwMode="auto">
          <a:xfrm>
            <a:off x="5097780" y="2194560"/>
            <a:ext cx="2148840" cy="365760"/>
          </a:xfrm>
          <a:prstGeom prst="rect">
            <a:avLst/>
          </a:prstGeom>
          <a:noFill/>
          <a:ln/>
        </p:spPr>
        <p:txBody>
          <a:bodyPr wrap="square" rtlCol="0" anchor="ctr"/>
          <a:lstStyle/>
          <a:p>
            <a:pPr marL="0" indent="0" algn="ctr">
              <a:buNone/>
              <a:defRPr/>
            </a:pPr>
            <a:r>
              <a:rPr lang="en-US" sz="2000" b="1">
                <a:solidFill>
                  <a:srgbClr val="D0111B"/>
                </a:solidFill>
                <a:latin typeface="Cambria"/>
                <a:ea typeface="Cambria"/>
                <a:cs typeface="Cambria"/>
              </a:rPr>
              <a:t>1985</a:t>
            </a:r>
            <a:endParaRPr lang="en-US" sz="2000"/>
          </a:p>
        </p:txBody>
      </p:sp>
      <p:sp>
        <p:nvSpPr>
          <p:cNvPr id="1241644172" name="Text 12"/>
          <p:cNvSpPr/>
          <p:nvPr/>
        </p:nvSpPr>
        <p:spPr bwMode="auto">
          <a:xfrm>
            <a:off x="5097780" y="2587752"/>
            <a:ext cx="2148840" cy="594360"/>
          </a:xfrm>
          <a:prstGeom prst="rect">
            <a:avLst/>
          </a:prstGeom>
          <a:noFill/>
          <a:ln/>
        </p:spPr>
        <p:txBody>
          <a:bodyPr wrap="square" rtlCol="0" anchor="ctr"/>
          <a:lstStyle/>
          <a:p>
            <a:pPr marL="0" indent="0" algn="ctr">
              <a:buNone/>
              <a:defRPr/>
            </a:pPr>
            <a:r>
              <a:rPr lang="en-US" sz="1050">
                <a:solidFill>
                  <a:srgbClr val="D9D9D9"/>
                </a:solidFill>
                <a:latin typeface="Calibri"/>
                <a:ea typeface="Calibri"/>
                <a:cs typeface="Calibri"/>
              </a:rPr>
              <a:t>RFC 959 — bis heute gültiger Standard</a:t>
            </a:r>
            <a:endParaRPr lang="en-US" sz="1050"/>
          </a:p>
        </p:txBody>
      </p:sp>
      <p:sp>
        <p:nvSpPr>
          <p:cNvPr id="760048069" name="Shape 13"/>
          <p:cNvSpPr/>
          <p:nvPr/>
        </p:nvSpPr>
        <p:spPr bwMode="auto">
          <a:xfrm>
            <a:off x="8764524" y="3163824"/>
            <a:ext cx="164592" cy="164592"/>
          </a:xfrm>
          <a:prstGeom prst="rect">
            <a:avLst/>
          </a:prstGeom>
          <a:solidFill>
            <a:srgbClr val="D0111B"/>
          </a:solidFill>
          <a:ln/>
        </p:spPr>
      </p:sp>
      <p:sp>
        <p:nvSpPr>
          <p:cNvPr id="1882862946" name="Text 14"/>
          <p:cNvSpPr/>
          <p:nvPr/>
        </p:nvSpPr>
        <p:spPr bwMode="auto">
          <a:xfrm>
            <a:off x="7772400" y="3474720"/>
            <a:ext cx="2148840" cy="365760"/>
          </a:xfrm>
          <a:prstGeom prst="rect">
            <a:avLst/>
          </a:prstGeom>
          <a:noFill/>
          <a:ln/>
        </p:spPr>
        <p:txBody>
          <a:bodyPr wrap="square" rtlCol="0" anchor="ctr"/>
          <a:lstStyle/>
          <a:p>
            <a:pPr marL="0" indent="0" algn="ctr">
              <a:buNone/>
              <a:defRPr/>
            </a:pPr>
            <a:r>
              <a:rPr lang="en-US" sz="2000" b="1">
                <a:solidFill>
                  <a:srgbClr val="D0111B"/>
                </a:solidFill>
                <a:latin typeface="Cambria"/>
                <a:ea typeface="Cambria"/>
                <a:cs typeface="Cambria"/>
              </a:rPr>
              <a:t>1997</a:t>
            </a:r>
            <a:endParaRPr lang="en-US" sz="2000"/>
          </a:p>
        </p:txBody>
      </p:sp>
      <p:sp>
        <p:nvSpPr>
          <p:cNvPr id="40576119" name="Text 15"/>
          <p:cNvSpPr/>
          <p:nvPr/>
        </p:nvSpPr>
        <p:spPr bwMode="auto">
          <a:xfrm>
            <a:off x="7772400" y="3840480"/>
            <a:ext cx="2148840" cy="685800"/>
          </a:xfrm>
          <a:prstGeom prst="rect">
            <a:avLst/>
          </a:prstGeom>
          <a:noFill/>
          <a:ln/>
        </p:spPr>
        <p:txBody>
          <a:bodyPr wrap="square" rtlCol="0" anchor="ctr"/>
          <a:lstStyle/>
          <a:p>
            <a:pPr marL="0" indent="0" algn="ctr">
              <a:buNone/>
              <a:defRPr/>
            </a:pPr>
            <a:r>
              <a:rPr lang="en-US" sz="1050">
                <a:solidFill>
                  <a:srgbClr val="D9D9D9"/>
                </a:solidFill>
                <a:latin typeface="Calibri"/>
                <a:ea typeface="Calibri"/>
                <a:cs typeface="Calibri"/>
              </a:rPr>
              <a:t>RFC 2228 — Security Extensions (FTPS)</a:t>
            </a:r>
            <a:endParaRPr lang="en-US" sz="1050"/>
          </a:p>
        </p:txBody>
      </p:sp>
      <p:sp>
        <p:nvSpPr>
          <p:cNvPr id="1513590659" name="Shape 16"/>
          <p:cNvSpPr/>
          <p:nvPr/>
        </p:nvSpPr>
        <p:spPr bwMode="auto">
          <a:xfrm>
            <a:off x="11439144" y="3163824"/>
            <a:ext cx="164592" cy="164592"/>
          </a:xfrm>
          <a:prstGeom prst="rect">
            <a:avLst/>
          </a:prstGeom>
          <a:solidFill>
            <a:srgbClr val="D0111B"/>
          </a:solidFill>
          <a:ln/>
        </p:spPr>
      </p:sp>
      <p:sp>
        <p:nvSpPr>
          <p:cNvPr id="393903328" name="Text 17"/>
          <p:cNvSpPr/>
          <p:nvPr/>
        </p:nvSpPr>
        <p:spPr bwMode="auto">
          <a:xfrm>
            <a:off x="9585654" y="2194560"/>
            <a:ext cx="2148840" cy="365760"/>
          </a:xfrm>
          <a:prstGeom prst="rect">
            <a:avLst/>
          </a:prstGeom>
          <a:noFill/>
          <a:ln/>
        </p:spPr>
        <p:txBody>
          <a:bodyPr wrap="square" rtlCol="0" anchor="ctr"/>
          <a:lstStyle/>
          <a:p>
            <a:pPr marL="0" indent="0" algn="ctr">
              <a:buNone/>
              <a:defRPr/>
            </a:pPr>
            <a:r>
              <a:rPr lang="en-US" sz="2000" b="1">
                <a:solidFill>
                  <a:srgbClr val="D0111B"/>
                </a:solidFill>
                <a:latin typeface="Cambria"/>
                <a:ea typeface="Cambria"/>
                <a:cs typeface="Cambria"/>
              </a:rPr>
              <a:t>Heute</a:t>
            </a:r>
            <a:endParaRPr lang="en-US" sz="2000"/>
          </a:p>
        </p:txBody>
      </p:sp>
      <p:sp>
        <p:nvSpPr>
          <p:cNvPr id="735693619" name="Text 18"/>
          <p:cNvSpPr/>
          <p:nvPr/>
        </p:nvSpPr>
        <p:spPr bwMode="auto">
          <a:xfrm>
            <a:off x="9585654" y="2587752"/>
            <a:ext cx="2148840" cy="594360"/>
          </a:xfrm>
          <a:prstGeom prst="rect">
            <a:avLst/>
          </a:prstGeom>
          <a:noFill/>
          <a:ln/>
        </p:spPr>
        <p:txBody>
          <a:bodyPr wrap="square" rtlCol="0" anchor="ctr"/>
          <a:lstStyle/>
          <a:p>
            <a:pPr marL="0" indent="0" algn="ctr">
              <a:buNone/>
              <a:defRPr/>
            </a:pPr>
            <a:r>
              <a:rPr lang="en-US" sz="1050">
                <a:solidFill>
                  <a:srgbClr val="D9D9D9"/>
                </a:solidFill>
                <a:latin typeface="Calibri"/>
                <a:ea typeface="Calibri"/>
                <a:cs typeface="Calibri"/>
              </a:rPr>
              <a:t>Weitgehend abgelöst durch SFTP/HTTPS, aber noch verbreitet in Alt- und Individualsystemen</a:t>
            </a:r>
            <a:endParaRPr lang="en-US" sz="1050"/>
          </a:p>
        </p:txBody>
      </p:sp>
      <p:sp>
        <p:nvSpPr>
          <p:cNvPr id="697374322" name="Text 19"/>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D9B9B9"/>
                </a:solidFill>
                <a:latin typeface="Calibri"/>
                <a:ea typeface="Calibri"/>
                <a:cs typeface="Calibri"/>
              </a:rPr>
              <a:t>FTP – File Transfer Protocol</a:t>
            </a:r>
            <a:endParaRPr lang="en-US" sz="900"/>
          </a:p>
        </p:txBody>
      </p:sp>
      <p:sp>
        <p:nvSpPr>
          <p:cNvPr id="1021688977" name="Text 20"/>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D9B9B9"/>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502883205" name="Shape 0"/>
          <p:cNvSpPr/>
          <p:nvPr/>
        </p:nvSpPr>
        <p:spPr bwMode="auto">
          <a:xfrm>
            <a:off x="548640" y="512064"/>
            <a:ext cx="128016" cy="128016"/>
          </a:xfrm>
          <a:prstGeom prst="rect">
            <a:avLst/>
          </a:prstGeom>
          <a:solidFill>
            <a:srgbClr val="D0111B"/>
          </a:solidFill>
          <a:ln/>
        </p:spPr>
      </p:sp>
      <p:sp>
        <p:nvSpPr>
          <p:cNvPr id="1987102434"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03 · SICHERHEITSASPEKTE</a:t>
            </a:r>
            <a:endParaRPr lang="en-US" sz="1300"/>
          </a:p>
        </p:txBody>
      </p:sp>
      <p:sp>
        <p:nvSpPr>
          <p:cNvPr id="1750207457"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000" b="1">
                <a:solidFill>
                  <a:srgbClr val="111111"/>
                </a:solidFill>
                <a:latin typeface="Cambria"/>
                <a:ea typeface="Cambria"/>
                <a:cs typeface="Cambria"/>
              </a:rPr>
              <a:t>Risiken von klassischem FTP</a:t>
            </a:r>
            <a:endParaRPr lang="en-US" sz="3000"/>
          </a:p>
        </p:txBody>
      </p:sp>
      <p:sp>
        <p:nvSpPr>
          <p:cNvPr id="179149878" name="Shape 3"/>
          <p:cNvSpPr/>
          <p:nvPr/>
        </p:nvSpPr>
        <p:spPr bwMode="auto">
          <a:xfrm>
            <a:off x="548640" y="1691640"/>
            <a:ext cx="3611880" cy="1965960"/>
          </a:xfrm>
          <a:prstGeom prst="rect">
            <a:avLst/>
          </a:prstGeom>
          <a:solidFill>
            <a:srgbClr val="FFFFFF"/>
          </a:solidFill>
          <a:ln w="12700">
            <a:solidFill>
              <a:srgbClr val="111111"/>
            </a:solidFill>
            <a:prstDash val="solid"/>
          </a:ln>
        </p:spPr>
      </p:sp>
      <p:sp>
        <p:nvSpPr>
          <p:cNvPr id="236014630" name="Shape 4"/>
          <p:cNvSpPr/>
          <p:nvPr/>
        </p:nvSpPr>
        <p:spPr bwMode="auto">
          <a:xfrm>
            <a:off x="777240" y="1920240"/>
            <a:ext cx="548640" cy="548640"/>
          </a:xfrm>
          <a:prstGeom prst="rect">
            <a:avLst/>
          </a:prstGeom>
          <a:solidFill>
            <a:srgbClr val="D0111B"/>
          </a:solidFill>
          <a:ln/>
        </p:spPr>
      </p:sp>
      <p:pic>
        <p:nvPicPr>
          <p:cNvPr id="99893034" name="Image 0" descr="preencoded.png"/>
          <p:cNvPicPr>
            <a:picLocks noChangeAspect="1"/>
          </p:cNvPicPr>
          <p:nvPr/>
        </p:nvPicPr>
        <p:blipFill rotWithShape="1">
          <a:blip r:embed="rId3"/>
          <a:stretch/>
        </p:blipFill>
        <p:spPr bwMode="auto">
          <a:xfrm>
            <a:off x="848563" y="1991563"/>
            <a:ext cx="405994" cy="405994"/>
          </a:xfrm>
          <a:prstGeom prst="rect">
            <a:avLst/>
          </a:prstGeom>
        </p:spPr>
      </p:pic>
      <p:sp>
        <p:nvSpPr>
          <p:cNvPr id="1950397308" name="Text 5"/>
          <p:cNvSpPr/>
          <p:nvPr/>
        </p:nvSpPr>
        <p:spPr bwMode="auto">
          <a:xfrm>
            <a:off x="777240" y="2606040"/>
            <a:ext cx="3154680" cy="36576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Klartextübertragung</a:t>
            </a:r>
            <a:endParaRPr lang="en-US" sz="1450"/>
          </a:p>
        </p:txBody>
      </p:sp>
      <p:sp>
        <p:nvSpPr>
          <p:cNvPr id="984473815" name="Text 6"/>
          <p:cNvSpPr/>
          <p:nvPr/>
        </p:nvSpPr>
        <p:spPr bwMode="auto">
          <a:xfrm>
            <a:off x="777240" y="2953512"/>
            <a:ext cx="3154680" cy="640080"/>
          </a:xfrm>
          <a:prstGeom prst="rect">
            <a:avLst/>
          </a:prstGeom>
          <a:noFill/>
          <a:ln/>
        </p:spPr>
        <p:txBody>
          <a:bodyPr wrap="square" rtlCol="0" anchor="ctr"/>
          <a:lstStyle/>
          <a:p>
            <a:pPr marL="0" indent="0">
              <a:buNone/>
              <a:defRPr/>
            </a:pPr>
            <a:r>
              <a:rPr lang="en-US" sz="1100">
                <a:solidFill>
                  <a:srgbClr val="5A5A5A"/>
                </a:solidFill>
                <a:latin typeface="Calibri"/>
                <a:ea typeface="Calibri"/>
                <a:cs typeface="Calibri"/>
              </a:rPr>
              <a:t>Benutzername, Passwort und Dateiinhalte werden unverschlüsselt gesendet</a:t>
            </a:r>
            <a:endParaRPr lang="en-US" sz="1100"/>
          </a:p>
        </p:txBody>
      </p:sp>
      <p:sp>
        <p:nvSpPr>
          <p:cNvPr id="877021024" name="Shape 7"/>
          <p:cNvSpPr/>
          <p:nvPr/>
        </p:nvSpPr>
        <p:spPr bwMode="auto">
          <a:xfrm>
            <a:off x="4480560" y="1691640"/>
            <a:ext cx="3611880" cy="1965960"/>
          </a:xfrm>
          <a:prstGeom prst="rect">
            <a:avLst/>
          </a:prstGeom>
          <a:solidFill>
            <a:srgbClr val="FFFFFF"/>
          </a:solidFill>
          <a:ln w="12700">
            <a:solidFill>
              <a:srgbClr val="111111"/>
            </a:solidFill>
            <a:prstDash val="solid"/>
          </a:ln>
        </p:spPr>
      </p:sp>
      <p:sp>
        <p:nvSpPr>
          <p:cNvPr id="721661315" name="Shape 8"/>
          <p:cNvSpPr/>
          <p:nvPr/>
        </p:nvSpPr>
        <p:spPr bwMode="auto">
          <a:xfrm>
            <a:off x="4709160" y="1920240"/>
            <a:ext cx="548640" cy="548640"/>
          </a:xfrm>
          <a:prstGeom prst="rect">
            <a:avLst/>
          </a:prstGeom>
          <a:solidFill>
            <a:srgbClr val="D0111B"/>
          </a:solidFill>
          <a:ln/>
        </p:spPr>
      </p:sp>
      <p:pic>
        <p:nvPicPr>
          <p:cNvPr id="561686790" name="Image 1" descr="preencoded.png"/>
          <p:cNvPicPr>
            <a:picLocks noChangeAspect="1"/>
          </p:cNvPicPr>
          <p:nvPr/>
        </p:nvPicPr>
        <p:blipFill rotWithShape="1">
          <a:blip r:embed="rId4"/>
          <a:stretch/>
        </p:blipFill>
        <p:spPr bwMode="auto">
          <a:xfrm>
            <a:off x="4780483" y="1991563"/>
            <a:ext cx="405994" cy="405994"/>
          </a:xfrm>
          <a:prstGeom prst="rect">
            <a:avLst/>
          </a:prstGeom>
        </p:spPr>
      </p:pic>
      <p:sp>
        <p:nvSpPr>
          <p:cNvPr id="936194606" name="Text 9"/>
          <p:cNvSpPr/>
          <p:nvPr/>
        </p:nvSpPr>
        <p:spPr bwMode="auto">
          <a:xfrm>
            <a:off x="4709160" y="2606040"/>
            <a:ext cx="3154680" cy="36576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Kein Integritätsschutz</a:t>
            </a:r>
            <a:endParaRPr lang="en-US" sz="1450"/>
          </a:p>
        </p:txBody>
      </p:sp>
      <p:sp>
        <p:nvSpPr>
          <p:cNvPr id="1482624096" name="Text 10"/>
          <p:cNvSpPr/>
          <p:nvPr/>
        </p:nvSpPr>
        <p:spPr bwMode="auto">
          <a:xfrm>
            <a:off x="4709160" y="2953512"/>
            <a:ext cx="3154680" cy="640080"/>
          </a:xfrm>
          <a:prstGeom prst="rect">
            <a:avLst/>
          </a:prstGeom>
          <a:noFill/>
          <a:ln/>
        </p:spPr>
        <p:txBody>
          <a:bodyPr wrap="square" rtlCol="0" anchor="ctr"/>
          <a:lstStyle/>
          <a:p>
            <a:pPr marL="0" indent="0">
              <a:buNone/>
              <a:defRPr/>
            </a:pPr>
            <a:r>
              <a:rPr lang="en-US" sz="1100">
                <a:solidFill>
                  <a:srgbClr val="5A5A5A"/>
                </a:solidFill>
                <a:latin typeface="Calibri"/>
                <a:ea typeface="Calibri"/>
                <a:cs typeface="Calibri"/>
              </a:rPr>
              <a:t>Manipulation der Daten während der Übertragung ist nicht erkennbar</a:t>
            </a:r>
            <a:endParaRPr lang="en-US" sz="1100"/>
          </a:p>
        </p:txBody>
      </p:sp>
      <p:sp>
        <p:nvSpPr>
          <p:cNvPr id="1057068403" name="Shape 11"/>
          <p:cNvSpPr/>
          <p:nvPr/>
        </p:nvSpPr>
        <p:spPr bwMode="auto">
          <a:xfrm>
            <a:off x="8412480" y="1691640"/>
            <a:ext cx="3611880" cy="1965960"/>
          </a:xfrm>
          <a:prstGeom prst="rect">
            <a:avLst/>
          </a:prstGeom>
          <a:solidFill>
            <a:srgbClr val="FFFFFF"/>
          </a:solidFill>
          <a:ln w="12700">
            <a:solidFill>
              <a:srgbClr val="111111"/>
            </a:solidFill>
            <a:prstDash val="solid"/>
          </a:ln>
        </p:spPr>
      </p:sp>
      <p:sp>
        <p:nvSpPr>
          <p:cNvPr id="559564910" name="Shape 12"/>
          <p:cNvSpPr/>
          <p:nvPr/>
        </p:nvSpPr>
        <p:spPr bwMode="auto">
          <a:xfrm>
            <a:off x="8641080" y="1920240"/>
            <a:ext cx="548640" cy="548640"/>
          </a:xfrm>
          <a:prstGeom prst="rect">
            <a:avLst/>
          </a:prstGeom>
          <a:solidFill>
            <a:srgbClr val="D0111B"/>
          </a:solidFill>
          <a:ln/>
        </p:spPr>
      </p:sp>
      <p:pic>
        <p:nvPicPr>
          <p:cNvPr id="718386914" name="Image 2" descr="preencoded.png"/>
          <p:cNvPicPr>
            <a:picLocks noChangeAspect="1"/>
          </p:cNvPicPr>
          <p:nvPr/>
        </p:nvPicPr>
        <p:blipFill rotWithShape="1">
          <a:blip r:embed="rId5"/>
          <a:stretch/>
        </p:blipFill>
        <p:spPr bwMode="auto">
          <a:xfrm>
            <a:off x="8712403" y="1991563"/>
            <a:ext cx="405994" cy="405994"/>
          </a:xfrm>
          <a:prstGeom prst="rect">
            <a:avLst/>
          </a:prstGeom>
        </p:spPr>
      </p:pic>
      <p:sp>
        <p:nvSpPr>
          <p:cNvPr id="687519321" name="Text 13"/>
          <p:cNvSpPr/>
          <p:nvPr/>
        </p:nvSpPr>
        <p:spPr bwMode="auto">
          <a:xfrm>
            <a:off x="8641080" y="2606040"/>
            <a:ext cx="3154680" cy="36576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Firewall-Probleme</a:t>
            </a:r>
            <a:endParaRPr lang="en-US" sz="1450"/>
          </a:p>
        </p:txBody>
      </p:sp>
      <p:sp>
        <p:nvSpPr>
          <p:cNvPr id="309133874" name="Text 14"/>
          <p:cNvSpPr/>
          <p:nvPr/>
        </p:nvSpPr>
        <p:spPr bwMode="auto">
          <a:xfrm>
            <a:off x="8641080" y="2953512"/>
            <a:ext cx="3154680" cy="640080"/>
          </a:xfrm>
          <a:prstGeom prst="rect">
            <a:avLst/>
          </a:prstGeom>
          <a:noFill/>
          <a:ln/>
        </p:spPr>
        <p:txBody>
          <a:bodyPr wrap="square" rtlCol="0" anchor="ctr"/>
          <a:lstStyle/>
          <a:p>
            <a:pPr marL="0" indent="0">
              <a:buNone/>
              <a:defRPr/>
            </a:pPr>
            <a:r>
              <a:rPr lang="en-US" sz="1100">
                <a:solidFill>
                  <a:srgbClr val="5A5A5A"/>
                </a:solidFill>
                <a:latin typeface="Calibri"/>
                <a:ea typeface="Calibri"/>
                <a:cs typeface="Calibri"/>
              </a:rPr>
              <a:t>Dynamische Ports im aktiven Modus erschweren Filterregeln</a:t>
            </a:r>
            <a:endParaRPr lang="en-US" sz="1100"/>
          </a:p>
        </p:txBody>
      </p:sp>
      <p:sp>
        <p:nvSpPr>
          <p:cNvPr id="1922909886" name="Shape 15"/>
          <p:cNvSpPr/>
          <p:nvPr/>
        </p:nvSpPr>
        <p:spPr bwMode="auto">
          <a:xfrm>
            <a:off x="548640" y="3977640"/>
            <a:ext cx="11064240" cy="1417320"/>
          </a:xfrm>
          <a:prstGeom prst="rect">
            <a:avLst/>
          </a:prstGeom>
          <a:solidFill>
            <a:srgbClr val="111111"/>
          </a:solidFill>
          <a:ln/>
        </p:spPr>
      </p:sp>
      <p:sp>
        <p:nvSpPr>
          <p:cNvPr id="1462871813" name="Shape 16"/>
          <p:cNvSpPr/>
          <p:nvPr/>
        </p:nvSpPr>
        <p:spPr bwMode="auto">
          <a:xfrm>
            <a:off x="548640" y="3977640"/>
            <a:ext cx="109728" cy="1417320"/>
          </a:xfrm>
          <a:prstGeom prst="rect">
            <a:avLst/>
          </a:prstGeom>
          <a:solidFill>
            <a:srgbClr val="D0111B"/>
          </a:solidFill>
          <a:ln/>
        </p:spPr>
      </p:sp>
      <p:sp>
        <p:nvSpPr>
          <p:cNvPr id="612517654" name="Shape 17"/>
          <p:cNvSpPr/>
          <p:nvPr/>
        </p:nvSpPr>
        <p:spPr bwMode="auto">
          <a:xfrm>
            <a:off x="868680" y="4361688"/>
            <a:ext cx="640080" cy="640080"/>
          </a:xfrm>
          <a:prstGeom prst="rect">
            <a:avLst/>
          </a:prstGeom>
          <a:solidFill>
            <a:srgbClr val="D0111B"/>
          </a:solidFill>
          <a:ln/>
        </p:spPr>
      </p:sp>
      <p:pic>
        <p:nvPicPr>
          <p:cNvPr id="995209823" name="Image 3" descr="preencoded.png"/>
          <p:cNvPicPr>
            <a:picLocks noChangeAspect="1"/>
          </p:cNvPicPr>
          <p:nvPr/>
        </p:nvPicPr>
        <p:blipFill rotWithShape="1">
          <a:blip r:embed="rId6"/>
          <a:stretch/>
        </p:blipFill>
        <p:spPr bwMode="auto">
          <a:xfrm>
            <a:off x="951890" y="4444898"/>
            <a:ext cx="473659" cy="473659"/>
          </a:xfrm>
          <a:prstGeom prst="rect">
            <a:avLst/>
          </a:prstGeom>
        </p:spPr>
      </p:pic>
      <p:sp>
        <p:nvSpPr>
          <p:cNvPr id="414515994" name="Text 18"/>
          <p:cNvSpPr/>
          <p:nvPr/>
        </p:nvSpPr>
        <p:spPr bwMode="auto">
          <a:xfrm>
            <a:off x="1737360" y="4142232"/>
            <a:ext cx="3657600" cy="365760"/>
          </a:xfrm>
          <a:prstGeom prst="rect">
            <a:avLst/>
          </a:prstGeom>
          <a:noFill/>
          <a:ln/>
        </p:spPr>
        <p:txBody>
          <a:bodyPr wrap="square" rtlCol="0" anchor="ctr"/>
          <a:lstStyle/>
          <a:p>
            <a:pPr marL="0" indent="0">
              <a:buNone/>
              <a:defRPr/>
            </a:pPr>
            <a:r>
              <a:rPr lang="en-US" sz="1500" b="1">
                <a:solidFill>
                  <a:srgbClr val="D0111B"/>
                </a:solidFill>
                <a:latin typeface="Calibri"/>
                <a:ea typeface="Calibri"/>
                <a:cs typeface="Calibri"/>
              </a:rPr>
              <a:t>Sichere Alternativen</a:t>
            </a:r>
            <a:endParaRPr lang="en-US" sz="1500"/>
          </a:p>
        </p:txBody>
      </p:sp>
      <p:sp>
        <p:nvSpPr>
          <p:cNvPr id="542707756" name="Text 19"/>
          <p:cNvSpPr/>
          <p:nvPr/>
        </p:nvSpPr>
        <p:spPr bwMode="auto">
          <a:xfrm>
            <a:off x="1737360" y="4507992"/>
            <a:ext cx="9601200" cy="320040"/>
          </a:xfrm>
          <a:prstGeom prst="rect">
            <a:avLst/>
          </a:prstGeom>
          <a:noFill/>
          <a:ln/>
        </p:spPr>
        <p:txBody>
          <a:bodyPr wrap="square" rtlCol="0" anchor="ctr"/>
          <a:lstStyle/>
          <a:p>
            <a:pPr marL="0" indent="0">
              <a:buNone/>
              <a:defRPr/>
            </a:pPr>
            <a:r>
              <a:rPr lang="en-US" sz="1250" b="1">
                <a:solidFill>
                  <a:srgbClr val="FFFFFF"/>
                </a:solidFill>
                <a:latin typeface="Calibri"/>
                <a:ea typeface="Calibri"/>
                <a:cs typeface="Calibri"/>
              </a:rPr>
              <a:t>FTPS</a:t>
            </a:r>
            <a:r>
              <a:rPr lang="en-US" sz="1250">
                <a:solidFill>
                  <a:srgbClr val="E0E0E0"/>
                </a:solidFill>
                <a:latin typeface="Calibri"/>
                <a:ea typeface="Calibri"/>
                <a:cs typeface="Calibri"/>
              </a:rPr>
              <a:t> — FTP über TLS/SSL, verschlüsselte Steuer- und Datenverbindung</a:t>
            </a:r>
            <a:endParaRPr lang="en-US" sz="1250"/>
          </a:p>
        </p:txBody>
      </p:sp>
      <p:sp>
        <p:nvSpPr>
          <p:cNvPr id="981701906" name="Text 20"/>
          <p:cNvSpPr/>
          <p:nvPr/>
        </p:nvSpPr>
        <p:spPr bwMode="auto">
          <a:xfrm>
            <a:off x="1737360" y="4873752"/>
            <a:ext cx="9601200" cy="320040"/>
          </a:xfrm>
          <a:prstGeom prst="rect">
            <a:avLst/>
          </a:prstGeom>
          <a:noFill/>
          <a:ln/>
        </p:spPr>
        <p:txBody>
          <a:bodyPr wrap="square" rtlCol="0" anchor="ctr"/>
          <a:lstStyle/>
          <a:p>
            <a:pPr marL="0" indent="0">
              <a:buNone/>
              <a:defRPr/>
            </a:pPr>
            <a:r>
              <a:rPr lang="en-US" sz="1250" b="1">
                <a:solidFill>
                  <a:srgbClr val="FFFFFF"/>
                </a:solidFill>
                <a:latin typeface="Calibri"/>
                <a:ea typeface="Calibri"/>
                <a:cs typeface="Calibri"/>
              </a:rPr>
              <a:t>SFTP</a:t>
            </a:r>
            <a:r>
              <a:rPr lang="en-US" sz="1250">
                <a:solidFill>
                  <a:srgbClr val="E0E0E0"/>
                </a:solidFill>
                <a:latin typeface="Calibri"/>
                <a:ea typeface="Calibri"/>
                <a:cs typeface="Calibri"/>
              </a:rPr>
              <a:t> — SSH File Transfer Protocol, eigenständiges Protokoll über eine SSH-Verbindung</a:t>
            </a:r>
            <a:endParaRPr lang="en-US" sz="1250"/>
          </a:p>
        </p:txBody>
      </p:sp>
      <p:sp>
        <p:nvSpPr>
          <p:cNvPr id="399137129" name="Text 21"/>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2128907924" name="Text 22"/>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643742622" name="Shape 0"/>
          <p:cNvSpPr/>
          <p:nvPr/>
        </p:nvSpPr>
        <p:spPr bwMode="auto">
          <a:xfrm>
            <a:off x="548640" y="512064"/>
            <a:ext cx="128016" cy="128016"/>
          </a:xfrm>
          <a:prstGeom prst="rect">
            <a:avLst/>
          </a:prstGeom>
          <a:solidFill>
            <a:srgbClr val="D0111B"/>
          </a:solidFill>
          <a:ln/>
        </p:spPr>
      </p:sp>
      <p:sp>
        <p:nvSpPr>
          <p:cNvPr id="1499669477"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04 · PERFORMANCE</a:t>
            </a:r>
            <a:endParaRPr lang="en-US" sz="1300"/>
          </a:p>
        </p:txBody>
      </p:sp>
      <p:sp>
        <p:nvSpPr>
          <p:cNvPr id="1926757708"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000" b="1">
                <a:solidFill>
                  <a:srgbClr val="111111"/>
                </a:solidFill>
                <a:latin typeface="Cambria"/>
                <a:ea typeface="Cambria"/>
                <a:cs typeface="Cambria"/>
              </a:rPr>
              <a:t>Geschwindigkeit &amp; Effizienz</a:t>
            </a:r>
            <a:endParaRPr lang="en-US" sz="3000"/>
          </a:p>
        </p:txBody>
      </p:sp>
      <p:sp>
        <p:nvSpPr>
          <p:cNvPr id="977523261" name="Shape 3"/>
          <p:cNvSpPr/>
          <p:nvPr/>
        </p:nvSpPr>
        <p:spPr bwMode="auto">
          <a:xfrm>
            <a:off x="548640" y="1691640"/>
            <a:ext cx="5394960" cy="4023360"/>
          </a:xfrm>
          <a:prstGeom prst="rect">
            <a:avLst/>
          </a:prstGeom>
          <a:solidFill>
            <a:srgbClr val="FFFFFF"/>
          </a:solidFill>
          <a:ln w="12700">
            <a:solidFill>
              <a:srgbClr val="111111"/>
            </a:solidFill>
            <a:prstDash val="solid"/>
          </a:ln>
        </p:spPr>
      </p:sp>
      <p:sp>
        <p:nvSpPr>
          <p:cNvPr id="1275955940" name="Shape 4"/>
          <p:cNvSpPr/>
          <p:nvPr/>
        </p:nvSpPr>
        <p:spPr bwMode="auto">
          <a:xfrm>
            <a:off x="822960" y="1920240"/>
            <a:ext cx="548640" cy="548640"/>
          </a:xfrm>
          <a:prstGeom prst="rect">
            <a:avLst/>
          </a:prstGeom>
          <a:solidFill>
            <a:srgbClr val="D0111B"/>
          </a:solidFill>
          <a:ln/>
        </p:spPr>
      </p:sp>
      <p:pic>
        <p:nvPicPr>
          <p:cNvPr id="465456824" name="Image 0" descr="preencoded.png"/>
          <p:cNvPicPr>
            <a:picLocks noChangeAspect="1"/>
          </p:cNvPicPr>
          <p:nvPr/>
        </p:nvPicPr>
        <p:blipFill rotWithShape="1">
          <a:blip r:embed="rId3"/>
          <a:stretch/>
        </p:blipFill>
        <p:spPr bwMode="auto">
          <a:xfrm>
            <a:off x="894283" y="1991563"/>
            <a:ext cx="405994" cy="405994"/>
          </a:xfrm>
          <a:prstGeom prst="rect">
            <a:avLst/>
          </a:prstGeom>
        </p:spPr>
      </p:pic>
      <p:sp>
        <p:nvSpPr>
          <p:cNvPr id="668200921" name="Text 5"/>
          <p:cNvSpPr/>
          <p:nvPr/>
        </p:nvSpPr>
        <p:spPr bwMode="auto">
          <a:xfrm>
            <a:off x="1508759" y="2029968"/>
            <a:ext cx="36576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Vorteile</a:t>
            </a:r>
            <a:endParaRPr lang="en-US" sz="1700"/>
          </a:p>
        </p:txBody>
      </p:sp>
      <p:sp>
        <p:nvSpPr>
          <p:cNvPr id="1931267201" name="Text 6"/>
          <p:cNvSpPr/>
          <p:nvPr/>
        </p:nvSpPr>
        <p:spPr bwMode="auto">
          <a:xfrm>
            <a:off x="914400" y="2606040"/>
            <a:ext cx="4754880" cy="2926080"/>
          </a:xfrm>
          <a:prstGeom prst="rect">
            <a:avLst/>
          </a:prstGeom>
          <a:noFill/>
          <a:ln/>
        </p:spPr>
        <p:txBody>
          <a:bodyPr wrap="square" rtlCol="0" anchor="ctr"/>
          <a:lstStyle/>
          <a:p>
            <a:pPr marL="342900" indent="-342900">
              <a:spcAft>
                <a:spcPts val="1200"/>
              </a:spcAft>
              <a:buSzPct val="100000"/>
              <a:buChar char="▪"/>
              <a:defRPr/>
            </a:pPr>
            <a:r>
              <a:rPr lang="en-US" sz="1250">
                <a:solidFill>
                  <a:srgbClr val="111111"/>
                </a:solidFill>
                <a:latin typeface="Calibri"/>
                <a:ea typeface="Calibri"/>
                <a:cs typeface="Calibri"/>
              </a:rPr>
              <a:t>Getrennte Kontroll- und Datenverbindung erlaubt parallele Befehle</a:t>
            </a:r>
            <a:endParaRPr lang="en-US" sz="1250"/>
          </a:p>
          <a:p>
            <a:pPr marL="342900" indent="-342900">
              <a:spcAft>
                <a:spcPts val="1200"/>
              </a:spcAft>
              <a:buSzPct val="100000"/>
              <a:buChar char="▪"/>
              <a:defRPr/>
            </a:pPr>
            <a:r>
              <a:rPr lang="en-US" sz="1250">
                <a:solidFill>
                  <a:srgbClr val="111111"/>
                </a:solidFill>
                <a:latin typeface="Calibri"/>
                <a:ea typeface="Calibri"/>
                <a:cs typeface="Calibri"/>
              </a:rPr>
              <a:t>Kein Verschlüsselungs-Overhead (reines FTP) — schnell in vertrauenswürdigen Netzen</a:t>
            </a:r>
            <a:endParaRPr lang="en-US" sz="1250"/>
          </a:p>
          <a:p>
            <a:pPr marL="342900" indent="-342900">
              <a:spcAft>
                <a:spcPts val="1200"/>
              </a:spcAft>
              <a:buSzPct val="100000"/>
              <a:buChar char="▪"/>
              <a:defRPr/>
            </a:pPr>
            <a:r>
              <a:rPr lang="en-US" sz="1250">
                <a:solidFill>
                  <a:srgbClr val="111111"/>
                </a:solidFill>
                <a:latin typeface="Calibri"/>
                <a:ea typeface="Calibri"/>
                <a:cs typeface="Calibri"/>
              </a:rPr>
              <a:t>Mehrere parallele Datenverbindungen möglich (z. B. mehrere gleichzeitige Transfers)</a:t>
            </a:r>
            <a:endParaRPr lang="en-US" sz="1250"/>
          </a:p>
          <a:p>
            <a:pPr marL="342900" indent="-342900">
              <a:spcAft>
                <a:spcPts val="1200"/>
              </a:spcAft>
              <a:buSzPct val="100000"/>
              <a:buChar char="▪"/>
              <a:defRPr/>
            </a:pPr>
            <a:r>
              <a:rPr lang="en-US" sz="1250">
                <a:solidFill>
                  <a:srgbClr val="111111"/>
                </a:solidFill>
                <a:latin typeface="Calibri"/>
                <a:ea typeface="Calibri"/>
                <a:cs typeface="Calibri"/>
              </a:rPr>
              <a:t>Effizient für sehr große Dateien in lokalen Netzen</a:t>
            </a:r>
            <a:endParaRPr lang="en-US" sz="1250"/>
          </a:p>
        </p:txBody>
      </p:sp>
      <p:sp>
        <p:nvSpPr>
          <p:cNvPr id="835545083" name="Shape 7"/>
          <p:cNvSpPr/>
          <p:nvPr/>
        </p:nvSpPr>
        <p:spPr bwMode="auto">
          <a:xfrm>
            <a:off x="6217920" y="1691640"/>
            <a:ext cx="5394960" cy="4023360"/>
          </a:xfrm>
          <a:prstGeom prst="rect">
            <a:avLst/>
          </a:prstGeom>
          <a:solidFill>
            <a:srgbClr val="111111"/>
          </a:solidFill>
          <a:ln/>
        </p:spPr>
      </p:sp>
      <p:sp>
        <p:nvSpPr>
          <p:cNvPr id="1175720252" name="Shape 8"/>
          <p:cNvSpPr/>
          <p:nvPr/>
        </p:nvSpPr>
        <p:spPr bwMode="auto">
          <a:xfrm>
            <a:off x="6492240" y="1920240"/>
            <a:ext cx="548640" cy="548640"/>
          </a:xfrm>
          <a:prstGeom prst="rect">
            <a:avLst/>
          </a:prstGeom>
          <a:solidFill>
            <a:srgbClr val="D0111B"/>
          </a:solidFill>
          <a:ln/>
        </p:spPr>
      </p:sp>
      <p:pic>
        <p:nvPicPr>
          <p:cNvPr id="1147853554" name="Image 1" descr="preencoded.png"/>
          <p:cNvPicPr>
            <a:picLocks noChangeAspect="1"/>
          </p:cNvPicPr>
          <p:nvPr/>
        </p:nvPicPr>
        <p:blipFill rotWithShape="1">
          <a:blip r:embed="rId4"/>
          <a:stretch/>
        </p:blipFill>
        <p:spPr bwMode="auto">
          <a:xfrm>
            <a:off x="6563563" y="1991563"/>
            <a:ext cx="405994" cy="405994"/>
          </a:xfrm>
          <a:prstGeom prst="rect">
            <a:avLst/>
          </a:prstGeom>
        </p:spPr>
      </p:pic>
      <p:sp>
        <p:nvSpPr>
          <p:cNvPr id="616012558" name="Text 9"/>
          <p:cNvSpPr/>
          <p:nvPr/>
        </p:nvSpPr>
        <p:spPr bwMode="auto">
          <a:xfrm>
            <a:off x="7178039" y="2029968"/>
            <a:ext cx="3657600" cy="365760"/>
          </a:xfrm>
          <a:prstGeom prst="rect">
            <a:avLst/>
          </a:prstGeom>
          <a:noFill/>
          <a:ln/>
        </p:spPr>
        <p:txBody>
          <a:bodyPr wrap="square" rtlCol="0" anchor="ctr"/>
          <a:lstStyle/>
          <a:p>
            <a:pPr marL="0" indent="0">
              <a:buNone/>
              <a:defRPr/>
            </a:pPr>
            <a:r>
              <a:rPr lang="en-US" sz="1700" b="1">
                <a:solidFill>
                  <a:srgbClr val="FFFFFF"/>
                </a:solidFill>
                <a:latin typeface="Calibri"/>
                <a:ea typeface="Calibri"/>
                <a:cs typeface="Calibri"/>
              </a:rPr>
              <a:t>Grenzen</a:t>
            </a:r>
            <a:endParaRPr lang="en-US" sz="1700"/>
          </a:p>
        </p:txBody>
      </p:sp>
      <p:sp>
        <p:nvSpPr>
          <p:cNvPr id="775337495" name="Text 10"/>
          <p:cNvSpPr/>
          <p:nvPr/>
        </p:nvSpPr>
        <p:spPr bwMode="auto">
          <a:xfrm>
            <a:off x="6583680" y="2606040"/>
            <a:ext cx="4754880" cy="2926080"/>
          </a:xfrm>
          <a:prstGeom prst="rect">
            <a:avLst/>
          </a:prstGeom>
          <a:noFill/>
          <a:ln/>
        </p:spPr>
        <p:txBody>
          <a:bodyPr wrap="square" rtlCol="0" anchor="ctr"/>
          <a:lstStyle/>
          <a:p>
            <a:pPr marL="342900" indent="-342900">
              <a:spcAft>
                <a:spcPts val="1200"/>
              </a:spcAft>
              <a:buSzPct val="100000"/>
              <a:buChar char="▪"/>
              <a:defRPr/>
            </a:pPr>
            <a:r>
              <a:rPr lang="en-US" sz="1250">
                <a:solidFill>
                  <a:srgbClr val="E6E6E6"/>
                </a:solidFill>
                <a:latin typeface="Calibri"/>
                <a:ea typeface="Calibri"/>
                <a:cs typeface="Calibri"/>
              </a:rPr>
              <a:t>Keine native Kompression im Standard</a:t>
            </a:r>
            <a:endParaRPr lang="en-US" sz="1250"/>
          </a:p>
          <a:p>
            <a:pPr marL="342900" indent="-342900">
              <a:spcAft>
                <a:spcPts val="1200"/>
              </a:spcAft>
              <a:buSzPct val="100000"/>
              <a:buChar char="▪"/>
              <a:defRPr/>
            </a:pPr>
            <a:r>
              <a:rPr lang="en-US" sz="1250">
                <a:solidFill>
                  <a:srgbClr val="E6E6E6"/>
                </a:solidFill>
                <a:latin typeface="Calibri"/>
                <a:ea typeface="Calibri"/>
                <a:cs typeface="Calibri"/>
              </a:rPr>
              <a:t>Neuer TCP-Handshake pro Datenverbindung — Overhead bei vielen kleinen Dateien</a:t>
            </a:r>
            <a:endParaRPr lang="en-US" sz="1250"/>
          </a:p>
          <a:p>
            <a:pPr marL="342900" indent="-342900">
              <a:spcAft>
                <a:spcPts val="1200"/>
              </a:spcAft>
              <a:buSzPct val="100000"/>
              <a:buChar char="▪"/>
              <a:defRPr/>
            </a:pPr>
            <a:r>
              <a:rPr lang="en-US" sz="1250">
                <a:solidFill>
                  <a:srgbClr val="E6E6E6"/>
                </a:solidFill>
                <a:latin typeface="Calibri"/>
                <a:ea typeface="Calibri"/>
                <a:cs typeface="Calibri"/>
              </a:rPr>
              <a:t>Verschlüsselte Varianten (FTPS/SFTP) kosten Rechenleistung und etwas Durchsatz</a:t>
            </a:r>
            <a:endParaRPr lang="en-US" sz="1250"/>
          </a:p>
          <a:p>
            <a:pPr marL="342900" indent="-342900">
              <a:spcAft>
                <a:spcPts val="1200"/>
              </a:spcAft>
              <a:buSzPct val="100000"/>
              <a:buChar char="▪"/>
              <a:defRPr/>
            </a:pPr>
            <a:r>
              <a:rPr lang="en-US" sz="1250">
                <a:solidFill>
                  <a:srgbClr val="E6E6E6"/>
                </a:solidFill>
                <a:latin typeface="Calibri"/>
                <a:ea typeface="Calibri"/>
                <a:cs typeface="Calibri"/>
              </a:rPr>
              <a:t>Passiver Modus benötigt Portbereiche, die konfiguriert werden müssen</a:t>
            </a:r>
            <a:endParaRPr lang="en-US" sz="1250"/>
          </a:p>
        </p:txBody>
      </p:sp>
      <p:sp>
        <p:nvSpPr>
          <p:cNvPr id="1340571356" name="Text 11"/>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1151304035" name="Text 12"/>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500214758" name="Shape 0"/>
          <p:cNvSpPr/>
          <p:nvPr/>
        </p:nvSpPr>
        <p:spPr bwMode="auto">
          <a:xfrm>
            <a:off x="548640" y="512064"/>
            <a:ext cx="128016" cy="128016"/>
          </a:xfrm>
          <a:prstGeom prst="rect">
            <a:avLst/>
          </a:prstGeom>
          <a:solidFill>
            <a:srgbClr val="D0111B"/>
          </a:solidFill>
          <a:ln/>
        </p:spPr>
      </p:sp>
      <p:sp>
        <p:nvSpPr>
          <p:cNvPr id="393080485"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05 · UMSETZUNG</a:t>
            </a:r>
            <a:endParaRPr lang="en-US" sz="1300"/>
          </a:p>
        </p:txBody>
      </p:sp>
      <p:sp>
        <p:nvSpPr>
          <p:cNvPr id="685648430"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200" b="1">
                <a:solidFill>
                  <a:srgbClr val="111111"/>
                </a:solidFill>
                <a:latin typeface="Cambria"/>
                <a:ea typeface="Cambria"/>
                <a:cs typeface="Cambria"/>
              </a:rPr>
              <a:t>Ablauf einer FTP-Sitzung</a:t>
            </a:r>
            <a:endParaRPr lang="en-US" sz="3200"/>
          </a:p>
        </p:txBody>
      </p:sp>
      <p:sp>
        <p:nvSpPr>
          <p:cNvPr id="1789438793" name="Shape 3"/>
          <p:cNvSpPr/>
          <p:nvPr/>
        </p:nvSpPr>
        <p:spPr bwMode="auto">
          <a:xfrm>
            <a:off x="868680" y="1920240"/>
            <a:ext cx="0" cy="3291840"/>
          </a:xfrm>
          <a:prstGeom prst="line">
            <a:avLst/>
          </a:prstGeom>
          <a:noFill/>
          <a:ln w="12700">
            <a:solidFill>
              <a:srgbClr val="111111"/>
            </a:solidFill>
            <a:prstDash val="solid"/>
          </a:ln>
        </p:spPr>
      </p:sp>
      <p:sp>
        <p:nvSpPr>
          <p:cNvPr id="10315738" name="Shape 4"/>
          <p:cNvSpPr/>
          <p:nvPr/>
        </p:nvSpPr>
        <p:spPr bwMode="auto">
          <a:xfrm>
            <a:off x="640080" y="1691640"/>
            <a:ext cx="457200" cy="457200"/>
          </a:xfrm>
          <a:prstGeom prst="rect">
            <a:avLst/>
          </a:prstGeom>
          <a:solidFill>
            <a:srgbClr val="111111"/>
          </a:solidFill>
          <a:ln/>
        </p:spPr>
      </p:sp>
      <p:sp>
        <p:nvSpPr>
          <p:cNvPr id="187547067" name="Text 5"/>
          <p:cNvSpPr/>
          <p:nvPr/>
        </p:nvSpPr>
        <p:spPr bwMode="auto">
          <a:xfrm>
            <a:off x="640080" y="1691640"/>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1</a:t>
            </a:r>
            <a:endParaRPr lang="en-US" sz="1500"/>
          </a:p>
        </p:txBody>
      </p:sp>
      <p:pic>
        <p:nvPicPr>
          <p:cNvPr id="251879971" name="Image 0" descr="preencoded.png"/>
          <p:cNvPicPr>
            <a:picLocks noChangeAspect="1"/>
          </p:cNvPicPr>
          <p:nvPr/>
        </p:nvPicPr>
        <p:blipFill rotWithShape="1">
          <a:blip r:embed="rId3"/>
          <a:stretch/>
        </p:blipFill>
        <p:spPr bwMode="auto">
          <a:xfrm>
            <a:off x="1417320" y="1737360"/>
            <a:ext cx="365760" cy="365760"/>
          </a:xfrm>
          <a:prstGeom prst="rect">
            <a:avLst/>
          </a:prstGeom>
        </p:spPr>
      </p:pic>
      <p:sp>
        <p:nvSpPr>
          <p:cNvPr id="1473158472" name="Text 6"/>
          <p:cNvSpPr/>
          <p:nvPr/>
        </p:nvSpPr>
        <p:spPr bwMode="auto">
          <a:xfrm>
            <a:off x="1920240" y="1664208"/>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Verbindungsaufbau</a:t>
            </a:r>
            <a:endParaRPr lang="en-US" sz="1450"/>
          </a:p>
        </p:txBody>
      </p:sp>
      <p:sp>
        <p:nvSpPr>
          <p:cNvPr id="2007115167" name="Text 7"/>
          <p:cNvSpPr/>
          <p:nvPr/>
        </p:nvSpPr>
        <p:spPr bwMode="auto">
          <a:xfrm>
            <a:off x="4526280" y="1664208"/>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Client baut die Steuerverbindung (Control Connection) zum Server auf Port 21 auf</a:t>
            </a:r>
            <a:endParaRPr lang="en-US" sz="1200"/>
          </a:p>
        </p:txBody>
      </p:sp>
      <p:sp>
        <p:nvSpPr>
          <p:cNvPr id="1010206665" name="Shape 8"/>
          <p:cNvSpPr/>
          <p:nvPr/>
        </p:nvSpPr>
        <p:spPr bwMode="auto">
          <a:xfrm>
            <a:off x="640080" y="2350008"/>
            <a:ext cx="457200" cy="457200"/>
          </a:xfrm>
          <a:prstGeom prst="rect">
            <a:avLst/>
          </a:prstGeom>
          <a:solidFill>
            <a:srgbClr val="D0111B"/>
          </a:solidFill>
          <a:ln/>
        </p:spPr>
      </p:sp>
      <p:sp>
        <p:nvSpPr>
          <p:cNvPr id="1642147853" name="Text 9"/>
          <p:cNvSpPr/>
          <p:nvPr/>
        </p:nvSpPr>
        <p:spPr bwMode="auto">
          <a:xfrm>
            <a:off x="640080" y="2350008"/>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2</a:t>
            </a:r>
            <a:endParaRPr lang="en-US" sz="1500"/>
          </a:p>
        </p:txBody>
      </p:sp>
      <p:pic>
        <p:nvPicPr>
          <p:cNvPr id="2103640831" name="Image 1" descr="preencoded.png"/>
          <p:cNvPicPr>
            <a:picLocks noChangeAspect="1"/>
          </p:cNvPicPr>
          <p:nvPr/>
        </p:nvPicPr>
        <p:blipFill rotWithShape="1">
          <a:blip r:embed="rId4"/>
          <a:stretch/>
        </p:blipFill>
        <p:spPr bwMode="auto">
          <a:xfrm>
            <a:off x="1417320" y="2395728"/>
            <a:ext cx="365760" cy="365760"/>
          </a:xfrm>
          <a:prstGeom prst="rect">
            <a:avLst/>
          </a:prstGeom>
        </p:spPr>
      </p:pic>
      <p:sp>
        <p:nvSpPr>
          <p:cNvPr id="793118304" name="Text 10"/>
          <p:cNvSpPr/>
          <p:nvPr/>
        </p:nvSpPr>
        <p:spPr bwMode="auto">
          <a:xfrm>
            <a:off x="1920240" y="2322576"/>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Authentifizierung</a:t>
            </a:r>
            <a:endParaRPr lang="en-US" sz="1450"/>
          </a:p>
        </p:txBody>
      </p:sp>
      <p:sp>
        <p:nvSpPr>
          <p:cNvPr id="1888657665" name="Text 11"/>
          <p:cNvSpPr/>
          <p:nvPr/>
        </p:nvSpPr>
        <p:spPr bwMode="auto">
          <a:xfrm>
            <a:off x="4526280" y="2322576"/>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Client meldet sich mit Benutzername und Passwort an (oder anonym, falls erlaubt)</a:t>
            </a:r>
            <a:endParaRPr lang="en-US" sz="1200"/>
          </a:p>
        </p:txBody>
      </p:sp>
      <p:sp>
        <p:nvSpPr>
          <p:cNvPr id="1368949552" name="Shape 12"/>
          <p:cNvSpPr/>
          <p:nvPr/>
        </p:nvSpPr>
        <p:spPr bwMode="auto">
          <a:xfrm>
            <a:off x="640080" y="3008376"/>
            <a:ext cx="457200" cy="457200"/>
          </a:xfrm>
          <a:prstGeom prst="rect">
            <a:avLst/>
          </a:prstGeom>
          <a:solidFill>
            <a:srgbClr val="111111"/>
          </a:solidFill>
          <a:ln/>
        </p:spPr>
      </p:sp>
      <p:sp>
        <p:nvSpPr>
          <p:cNvPr id="1987070925" name="Text 13"/>
          <p:cNvSpPr/>
          <p:nvPr/>
        </p:nvSpPr>
        <p:spPr bwMode="auto">
          <a:xfrm>
            <a:off x="640080" y="3008376"/>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3</a:t>
            </a:r>
            <a:endParaRPr lang="en-US" sz="1500"/>
          </a:p>
        </p:txBody>
      </p:sp>
      <p:pic>
        <p:nvPicPr>
          <p:cNvPr id="1716604078" name="Image 2" descr="preencoded.png"/>
          <p:cNvPicPr>
            <a:picLocks noChangeAspect="1"/>
          </p:cNvPicPr>
          <p:nvPr/>
        </p:nvPicPr>
        <p:blipFill rotWithShape="1">
          <a:blip r:embed="rId5"/>
          <a:stretch/>
        </p:blipFill>
        <p:spPr bwMode="auto">
          <a:xfrm>
            <a:off x="1417320" y="3054096"/>
            <a:ext cx="365760" cy="365760"/>
          </a:xfrm>
          <a:prstGeom prst="rect">
            <a:avLst/>
          </a:prstGeom>
        </p:spPr>
      </p:pic>
      <p:sp>
        <p:nvSpPr>
          <p:cNvPr id="665400535" name="Text 14"/>
          <p:cNvSpPr/>
          <p:nvPr/>
        </p:nvSpPr>
        <p:spPr bwMode="auto">
          <a:xfrm>
            <a:off x="1920240" y="2980944"/>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Befehlsaustausch</a:t>
            </a:r>
            <a:endParaRPr lang="en-US" sz="1450"/>
          </a:p>
        </p:txBody>
      </p:sp>
      <p:sp>
        <p:nvSpPr>
          <p:cNvPr id="1635454340" name="Text 15"/>
          <p:cNvSpPr/>
          <p:nvPr/>
        </p:nvSpPr>
        <p:spPr bwMode="auto">
          <a:xfrm>
            <a:off x="4526280" y="2980944"/>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Client sendet Befehle, z. B. Verzeichnis wechseln oder Inhalt auflisten</a:t>
            </a:r>
            <a:endParaRPr lang="en-US" sz="1200"/>
          </a:p>
        </p:txBody>
      </p:sp>
      <p:sp>
        <p:nvSpPr>
          <p:cNvPr id="749443112" name="Shape 16"/>
          <p:cNvSpPr/>
          <p:nvPr/>
        </p:nvSpPr>
        <p:spPr bwMode="auto">
          <a:xfrm>
            <a:off x="640080" y="3666744"/>
            <a:ext cx="457200" cy="457200"/>
          </a:xfrm>
          <a:prstGeom prst="rect">
            <a:avLst/>
          </a:prstGeom>
          <a:solidFill>
            <a:srgbClr val="D0111B"/>
          </a:solidFill>
          <a:ln/>
        </p:spPr>
      </p:sp>
      <p:sp>
        <p:nvSpPr>
          <p:cNvPr id="1850485070" name="Text 17"/>
          <p:cNvSpPr/>
          <p:nvPr/>
        </p:nvSpPr>
        <p:spPr bwMode="auto">
          <a:xfrm>
            <a:off x="640080" y="3666744"/>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4</a:t>
            </a:r>
            <a:endParaRPr lang="en-US" sz="1500"/>
          </a:p>
        </p:txBody>
      </p:sp>
      <p:pic>
        <p:nvPicPr>
          <p:cNvPr id="83748830" name="Image 3" descr="preencoded.png"/>
          <p:cNvPicPr>
            <a:picLocks noChangeAspect="1"/>
          </p:cNvPicPr>
          <p:nvPr/>
        </p:nvPicPr>
        <p:blipFill rotWithShape="1">
          <a:blip r:embed="rId6"/>
          <a:stretch/>
        </p:blipFill>
        <p:spPr bwMode="auto">
          <a:xfrm>
            <a:off x="1417320" y="3712464"/>
            <a:ext cx="365760" cy="365760"/>
          </a:xfrm>
          <a:prstGeom prst="rect">
            <a:avLst/>
          </a:prstGeom>
        </p:spPr>
      </p:pic>
      <p:sp>
        <p:nvSpPr>
          <p:cNvPr id="892886379" name="Text 18"/>
          <p:cNvSpPr/>
          <p:nvPr/>
        </p:nvSpPr>
        <p:spPr bwMode="auto">
          <a:xfrm>
            <a:off x="1920240" y="3639312"/>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Datenverbindung aushandeln</a:t>
            </a:r>
            <a:endParaRPr lang="en-US" sz="1450"/>
          </a:p>
        </p:txBody>
      </p:sp>
      <p:sp>
        <p:nvSpPr>
          <p:cNvPr id="614660930" name="Text 19"/>
          <p:cNvSpPr/>
          <p:nvPr/>
        </p:nvSpPr>
        <p:spPr bwMode="auto">
          <a:xfrm>
            <a:off x="4526280" y="3639312"/>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Für die Übertragung wird eine zusätzliche Datenverbindung aufgebaut — aktiv oder passiv</a:t>
            </a:r>
            <a:endParaRPr lang="en-US" sz="1200"/>
          </a:p>
        </p:txBody>
      </p:sp>
      <p:sp>
        <p:nvSpPr>
          <p:cNvPr id="1904489835" name="Shape 20"/>
          <p:cNvSpPr/>
          <p:nvPr/>
        </p:nvSpPr>
        <p:spPr bwMode="auto">
          <a:xfrm>
            <a:off x="640080" y="4325112"/>
            <a:ext cx="457200" cy="457200"/>
          </a:xfrm>
          <a:prstGeom prst="rect">
            <a:avLst/>
          </a:prstGeom>
          <a:solidFill>
            <a:srgbClr val="111111"/>
          </a:solidFill>
          <a:ln/>
        </p:spPr>
      </p:sp>
      <p:sp>
        <p:nvSpPr>
          <p:cNvPr id="1383235585" name="Text 21"/>
          <p:cNvSpPr/>
          <p:nvPr/>
        </p:nvSpPr>
        <p:spPr bwMode="auto">
          <a:xfrm>
            <a:off x="640080" y="4325112"/>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5</a:t>
            </a:r>
            <a:endParaRPr lang="en-US" sz="1500"/>
          </a:p>
        </p:txBody>
      </p:sp>
      <p:pic>
        <p:nvPicPr>
          <p:cNvPr id="1371345481" name="Image 4" descr="preencoded.png"/>
          <p:cNvPicPr>
            <a:picLocks noChangeAspect="1"/>
          </p:cNvPicPr>
          <p:nvPr/>
        </p:nvPicPr>
        <p:blipFill rotWithShape="1">
          <a:blip r:embed="rId7"/>
          <a:stretch/>
        </p:blipFill>
        <p:spPr bwMode="auto">
          <a:xfrm>
            <a:off x="1417320" y="4370832"/>
            <a:ext cx="365760" cy="365760"/>
          </a:xfrm>
          <a:prstGeom prst="rect">
            <a:avLst/>
          </a:prstGeom>
        </p:spPr>
      </p:pic>
      <p:sp>
        <p:nvSpPr>
          <p:cNvPr id="316419035" name="Text 22"/>
          <p:cNvSpPr/>
          <p:nvPr/>
        </p:nvSpPr>
        <p:spPr bwMode="auto">
          <a:xfrm>
            <a:off x="1920240" y="4297680"/>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Datenübertragung</a:t>
            </a:r>
            <a:endParaRPr lang="en-US" sz="1450"/>
          </a:p>
        </p:txBody>
      </p:sp>
      <p:sp>
        <p:nvSpPr>
          <p:cNvPr id="550703099" name="Text 23"/>
          <p:cNvSpPr/>
          <p:nvPr/>
        </p:nvSpPr>
        <p:spPr bwMode="auto">
          <a:xfrm>
            <a:off x="4526280" y="4297680"/>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Die eigentliche Datei wird über die Datenverbindung hoch- oder heruntergeladen</a:t>
            </a:r>
            <a:endParaRPr lang="en-US" sz="1200"/>
          </a:p>
        </p:txBody>
      </p:sp>
      <p:sp>
        <p:nvSpPr>
          <p:cNvPr id="1883181724" name="Shape 24"/>
          <p:cNvSpPr/>
          <p:nvPr/>
        </p:nvSpPr>
        <p:spPr bwMode="auto">
          <a:xfrm>
            <a:off x="640080" y="4983480"/>
            <a:ext cx="457200" cy="457200"/>
          </a:xfrm>
          <a:prstGeom prst="rect">
            <a:avLst/>
          </a:prstGeom>
          <a:solidFill>
            <a:srgbClr val="D0111B"/>
          </a:solidFill>
          <a:ln/>
        </p:spPr>
      </p:sp>
      <p:sp>
        <p:nvSpPr>
          <p:cNvPr id="2087227473" name="Text 25"/>
          <p:cNvSpPr/>
          <p:nvPr/>
        </p:nvSpPr>
        <p:spPr bwMode="auto">
          <a:xfrm>
            <a:off x="640080" y="4983480"/>
            <a:ext cx="457200" cy="457200"/>
          </a:xfrm>
          <a:prstGeom prst="rect">
            <a:avLst/>
          </a:prstGeom>
          <a:noFill/>
          <a:ln/>
        </p:spPr>
        <p:txBody>
          <a:bodyPr wrap="square" rtlCol="0" anchor="ctr"/>
          <a:lstStyle/>
          <a:p>
            <a:pPr marL="0" indent="0" algn="ctr">
              <a:buNone/>
              <a:defRPr/>
            </a:pPr>
            <a:r>
              <a:rPr lang="en-US" sz="1500" b="1">
                <a:solidFill>
                  <a:srgbClr val="FFFFFF"/>
                </a:solidFill>
                <a:latin typeface="Calibri"/>
                <a:ea typeface="Calibri"/>
                <a:cs typeface="Calibri"/>
              </a:rPr>
              <a:t>6</a:t>
            </a:r>
            <a:endParaRPr lang="en-US" sz="1500"/>
          </a:p>
        </p:txBody>
      </p:sp>
      <p:pic>
        <p:nvPicPr>
          <p:cNvPr id="422366275" name="Image 5" descr="preencoded.png"/>
          <p:cNvPicPr>
            <a:picLocks noChangeAspect="1"/>
          </p:cNvPicPr>
          <p:nvPr/>
        </p:nvPicPr>
        <p:blipFill rotWithShape="1">
          <a:blip r:embed="rId8"/>
          <a:stretch/>
        </p:blipFill>
        <p:spPr bwMode="auto">
          <a:xfrm>
            <a:off x="1417320" y="5029200"/>
            <a:ext cx="365760" cy="365760"/>
          </a:xfrm>
          <a:prstGeom prst="rect">
            <a:avLst/>
          </a:prstGeom>
        </p:spPr>
      </p:pic>
      <p:sp>
        <p:nvSpPr>
          <p:cNvPr id="1028500681" name="Text 26"/>
          <p:cNvSpPr/>
          <p:nvPr/>
        </p:nvSpPr>
        <p:spPr bwMode="auto">
          <a:xfrm>
            <a:off x="1920240" y="4956048"/>
            <a:ext cx="2468880" cy="502920"/>
          </a:xfrm>
          <a:prstGeom prst="rect">
            <a:avLst/>
          </a:prstGeom>
          <a:noFill/>
          <a:ln/>
        </p:spPr>
        <p:txBody>
          <a:bodyPr wrap="square" rtlCol="0" anchor="ctr"/>
          <a:lstStyle/>
          <a:p>
            <a:pPr marL="0" indent="0">
              <a:buNone/>
              <a:defRPr/>
            </a:pPr>
            <a:r>
              <a:rPr lang="en-US" sz="1450" b="1">
                <a:solidFill>
                  <a:srgbClr val="111111"/>
                </a:solidFill>
                <a:latin typeface="Calibri"/>
                <a:ea typeface="Calibri"/>
                <a:cs typeface="Calibri"/>
              </a:rPr>
              <a:t>Verbindungsende</a:t>
            </a:r>
            <a:endParaRPr lang="en-US" sz="1450"/>
          </a:p>
        </p:txBody>
      </p:sp>
      <p:sp>
        <p:nvSpPr>
          <p:cNvPr id="886980806" name="Text 27"/>
          <p:cNvSpPr/>
          <p:nvPr/>
        </p:nvSpPr>
        <p:spPr bwMode="auto">
          <a:xfrm>
            <a:off x="4526280" y="4956048"/>
            <a:ext cx="7040880" cy="566928"/>
          </a:xfrm>
          <a:prstGeom prst="rect">
            <a:avLst/>
          </a:prstGeom>
          <a:noFill/>
          <a:ln/>
        </p:spPr>
        <p:txBody>
          <a:bodyPr wrap="square" rtlCol="0" anchor="ctr"/>
          <a:lstStyle/>
          <a:p>
            <a:pPr marL="0" indent="0">
              <a:buNone/>
              <a:defRPr/>
            </a:pPr>
            <a:r>
              <a:rPr lang="en-US" sz="1200">
                <a:solidFill>
                  <a:srgbClr val="5A5A5A"/>
                </a:solidFill>
                <a:latin typeface="Calibri"/>
                <a:ea typeface="Calibri"/>
                <a:cs typeface="Calibri"/>
              </a:rPr>
              <a:t>Datenverbindung schließt nach der Übertragung; Steuerverbindung endet mit dem Befehl QUIT</a:t>
            </a:r>
            <a:endParaRPr lang="en-US" sz="1200"/>
          </a:p>
        </p:txBody>
      </p:sp>
      <p:sp>
        <p:nvSpPr>
          <p:cNvPr id="414115050" name="Text 28"/>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1856811501" name="Text 29"/>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2026582993" name="Shape 0"/>
          <p:cNvSpPr/>
          <p:nvPr/>
        </p:nvSpPr>
        <p:spPr bwMode="auto">
          <a:xfrm>
            <a:off x="548640" y="512064"/>
            <a:ext cx="128016" cy="128016"/>
          </a:xfrm>
          <a:prstGeom prst="rect">
            <a:avLst/>
          </a:prstGeom>
          <a:solidFill>
            <a:srgbClr val="D0111B"/>
          </a:solidFill>
          <a:ln/>
        </p:spPr>
      </p:sp>
      <p:sp>
        <p:nvSpPr>
          <p:cNvPr id="303872565"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111111"/>
                </a:solidFill>
                <a:latin typeface="Calibri"/>
                <a:ea typeface="Calibri"/>
                <a:cs typeface="Calibri"/>
              </a:rPr>
              <a:t>06 · VORHANDENE SOFTWARE</a:t>
            </a:r>
            <a:endParaRPr lang="en-US" sz="1300"/>
          </a:p>
        </p:txBody>
      </p:sp>
      <p:sp>
        <p:nvSpPr>
          <p:cNvPr id="1783646958"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200" b="1">
                <a:solidFill>
                  <a:srgbClr val="111111"/>
                </a:solidFill>
                <a:latin typeface="Cambria"/>
                <a:ea typeface="Cambria"/>
                <a:cs typeface="Cambria"/>
              </a:rPr>
              <a:t>Server &amp; Clients</a:t>
            </a:r>
            <a:endParaRPr lang="en-US" sz="3200"/>
          </a:p>
        </p:txBody>
      </p:sp>
      <p:sp>
        <p:nvSpPr>
          <p:cNvPr id="88053472" name="Shape 3"/>
          <p:cNvSpPr/>
          <p:nvPr/>
        </p:nvSpPr>
        <p:spPr bwMode="auto">
          <a:xfrm>
            <a:off x="548640" y="1691640"/>
            <a:ext cx="5394960" cy="4023360"/>
          </a:xfrm>
          <a:prstGeom prst="rect">
            <a:avLst/>
          </a:prstGeom>
          <a:solidFill>
            <a:srgbClr val="FFFFFF"/>
          </a:solidFill>
          <a:ln w="12700">
            <a:solidFill>
              <a:srgbClr val="111111"/>
            </a:solidFill>
            <a:prstDash val="solid"/>
          </a:ln>
        </p:spPr>
      </p:sp>
      <p:sp>
        <p:nvSpPr>
          <p:cNvPr id="1320250223" name="Shape 4"/>
          <p:cNvSpPr/>
          <p:nvPr/>
        </p:nvSpPr>
        <p:spPr bwMode="auto">
          <a:xfrm>
            <a:off x="822960" y="1920240"/>
            <a:ext cx="548640" cy="548640"/>
          </a:xfrm>
          <a:prstGeom prst="rect">
            <a:avLst/>
          </a:prstGeom>
          <a:solidFill>
            <a:srgbClr val="D0111B"/>
          </a:solidFill>
          <a:ln/>
        </p:spPr>
      </p:sp>
      <p:pic>
        <p:nvPicPr>
          <p:cNvPr id="1089447633" name="Image 0" descr="preencoded.png"/>
          <p:cNvPicPr>
            <a:picLocks noChangeAspect="1"/>
          </p:cNvPicPr>
          <p:nvPr/>
        </p:nvPicPr>
        <p:blipFill rotWithShape="1">
          <a:blip r:embed="rId3"/>
          <a:stretch/>
        </p:blipFill>
        <p:spPr bwMode="auto">
          <a:xfrm>
            <a:off x="894283" y="1991563"/>
            <a:ext cx="405994" cy="405994"/>
          </a:xfrm>
          <a:prstGeom prst="rect">
            <a:avLst/>
          </a:prstGeom>
        </p:spPr>
      </p:pic>
      <p:sp>
        <p:nvSpPr>
          <p:cNvPr id="464054582" name="Text 5"/>
          <p:cNvSpPr/>
          <p:nvPr/>
        </p:nvSpPr>
        <p:spPr bwMode="auto">
          <a:xfrm>
            <a:off x="1508759" y="2029968"/>
            <a:ext cx="36576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Server-Software</a:t>
            </a:r>
            <a:endParaRPr lang="en-US" sz="1700"/>
          </a:p>
        </p:txBody>
      </p:sp>
      <p:sp>
        <p:nvSpPr>
          <p:cNvPr id="2008540114" name="Text 6"/>
          <p:cNvSpPr/>
          <p:nvPr/>
        </p:nvSpPr>
        <p:spPr bwMode="auto">
          <a:xfrm>
            <a:off x="914400" y="2606040"/>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vsftpd  </a:t>
            </a:r>
            <a:r>
              <a:rPr lang="en-US" sz="1250">
                <a:solidFill>
                  <a:srgbClr val="5A5A5A"/>
                </a:solidFill>
                <a:latin typeface="Calibri"/>
                <a:ea typeface="Calibri"/>
                <a:cs typeface="Calibri"/>
              </a:rPr>
              <a:t>Sehr verbreitet unter Linux, Fokus auf Sicherheit</a:t>
            </a:r>
            <a:endParaRPr lang="en-US" sz="1250"/>
          </a:p>
        </p:txBody>
      </p:sp>
      <p:sp>
        <p:nvSpPr>
          <p:cNvPr id="114400640" name="Text 7"/>
          <p:cNvSpPr/>
          <p:nvPr/>
        </p:nvSpPr>
        <p:spPr bwMode="auto">
          <a:xfrm>
            <a:off x="914400" y="3172968"/>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ProFTPD  </a:t>
            </a:r>
            <a:r>
              <a:rPr lang="en-US" sz="1250">
                <a:solidFill>
                  <a:srgbClr val="5A5A5A"/>
                </a:solidFill>
                <a:latin typeface="Calibri"/>
                <a:ea typeface="Calibri"/>
                <a:cs typeface="Calibri"/>
              </a:rPr>
              <a:t>Modular, umfangreich konfigurierbar</a:t>
            </a:r>
            <a:endParaRPr lang="en-US" sz="1250"/>
          </a:p>
        </p:txBody>
      </p:sp>
      <p:sp>
        <p:nvSpPr>
          <p:cNvPr id="66181131" name="Text 8"/>
          <p:cNvSpPr/>
          <p:nvPr/>
        </p:nvSpPr>
        <p:spPr bwMode="auto">
          <a:xfrm>
            <a:off x="914400" y="3739896"/>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Pure-FTPd  </a:t>
            </a:r>
            <a:r>
              <a:rPr lang="en-US" sz="1250">
                <a:solidFill>
                  <a:srgbClr val="5A5A5A"/>
                </a:solidFill>
                <a:latin typeface="Calibri"/>
                <a:ea typeface="Calibri"/>
                <a:cs typeface="Calibri"/>
              </a:rPr>
              <a:t>Schlank, einfache Konfiguration</a:t>
            </a:r>
            <a:endParaRPr lang="en-US" sz="1250"/>
          </a:p>
        </p:txBody>
      </p:sp>
      <p:sp>
        <p:nvSpPr>
          <p:cNvPr id="846024687" name="Text 9"/>
          <p:cNvSpPr/>
          <p:nvPr/>
        </p:nvSpPr>
        <p:spPr bwMode="auto">
          <a:xfrm>
            <a:off x="914400" y="4306824"/>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Microsoft IIS FTP  </a:t>
            </a:r>
            <a:r>
              <a:rPr lang="en-US" sz="1250">
                <a:solidFill>
                  <a:srgbClr val="5A5A5A"/>
                </a:solidFill>
                <a:latin typeface="Calibri"/>
                <a:ea typeface="Calibri"/>
                <a:cs typeface="Calibri"/>
              </a:rPr>
              <a:t>Integriert in Windows Server</a:t>
            </a:r>
            <a:endParaRPr lang="en-US" sz="1250"/>
          </a:p>
        </p:txBody>
      </p:sp>
      <p:sp>
        <p:nvSpPr>
          <p:cNvPr id="1524460384" name="Text 10"/>
          <p:cNvSpPr/>
          <p:nvPr/>
        </p:nvSpPr>
        <p:spPr bwMode="auto">
          <a:xfrm>
            <a:off x="914400" y="4873752"/>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FileZilla Server  </a:t>
            </a:r>
            <a:r>
              <a:rPr lang="en-US" sz="1250">
                <a:solidFill>
                  <a:srgbClr val="5A5A5A"/>
                </a:solidFill>
                <a:latin typeface="Calibri"/>
                <a:ea typeface="Calibri"/>
                <a:cs typeface="Calibri"/>
              </a:rPr>
              <a:t>Grafisch verwaltbar, für Windows</a:t>
            </a:r>
            <a:endParaRPr lang="en-US" sz="1250"/>
          </a:p>
        </p:txBody>
      </p:sp>
      <p:sp>
        <p:nvSpPr>
          <p:cNvPr id="1618676940" name="Shape 11"/>
          <p:cNvSpPr/>
          <p:nvPr/>
        </p:nvSpPr>
        <p:spPr bwMode="auto">
          <a:xfrm>
            <a:off x="6217920" y="1691640"/>
            <a:ext cx="5394960" cy="4023360"/>
          </a:xfrm>
          <a:prstGeom prst="rect">
            <a:avLst/>
          </a:prstGeom>
          <a:solidFill>
            <a:srgbClr val="FFFFFF"/>
          </a:solidFill>
          <a:ln w="12700">
            <a:solidFill>
              <a:srgbClr val="111111"/>
            </a:solidFill>
            <a:prstDash val="solid"/>
          </a:ln>
        </p:spPr>
      </p:sp>
      <p:sp>
        <p:nvSpPr>
          <p:cNvPr id="919177395" name="Shape 12"/>
          <p:cNvSpPr/>
          <p:nvPr/>
        </p:nvSpPr>
        <p:spPr bwMode="auto">
          <a:xfrm>
            <a:off x="6492240" y="1920240"/>
            <a:ext cx="548640" cy="548640"/>
          </a:xfrm>
          <a:prstGeom prst="rect">
            <a:avLst/>
          </a:prstGeom>
          <a:solidFill>
            <a:srgbClr val="D0111B"/>
          </a:solidFill>
          <a:ln/>
        </p:spPr>
      </p:sp>
      <p:pic>
        <p:nvPicPr>
          <p:cNvPr id="1957699636" name="Image 1" descr="preencoded.png"/>
          <p:cNvPicPr>
            <a:picLocks noChangeAspect="1"/>
          </p:cNvPicPr>
          <p:nvPr/>
        </p:nvPicPr>
        <p:blipFill rotWithShape="1">
          <a:blip r:embed="rId4"/>
          <a:stretch/>
        </p:blipFill>
        <p:spPr bwMode="auto">
          <a:xfrm>
            <a:off x="6563563" y="1991563"/>
            <a:ext cx="405994" cy="405994"/>
          </a:xfrm>
          <a:prstGeom prst="rect">
            <a:avLst/>
          </a:prstGeom>
        </p:spPr>
      </p:pic>
      <p:sp>
        <p:nvSpPr>
          <p:cNvPr id="108101064" name="Text 13"/>
          <p:cNvSpPr/>
          <p:nvPr/>
        </p:nvSpPr>
        <p:spPr bwMode="auto">
          <a:xfrm>
            <a:off x="7178039" y="2029968"/>
            <a:ext cx="3657600" cy="365760"/>
          </a:xfrm>
          <a:prstGeom prst="rect">
            <a:avLst/>
          </a:prstGeom>
          <a:noFill/>
          <a:ln/>
        </p:spPr>
        <p:txBody>
          <a:bodyPr wrap="square" rtlCol="0" anchor="ctr"/>
          <a:lstStyle/>
          <a:p>
            <a:pPr marL="0" indent="0">
              <a:buNone/>
              <a:defRPr/>
            </a:pPr>
            <a:r>
              <a:rPr lang="en-US" sz="1700" b="1">
                <a:solidFill>
                  <a:srgbClr val="111111"/>
                </a:solidFill>
                <a:latin typeface="Calibri"/>
                <a:ea typeface="Calibri"/>
                <a:cs typeface="Calibri"/>
              </a:rPr>
              <a:t>Client-Software</a:t>
            </a:r>
            <a:endParaRPr lang="en-US" sz="1700"/>
          </a:p>
        </p:txBody>
      </p:sp>
      <p:sp>
        <p:nvSpPr>
          <p:cNvPr id="396264597" name="Text 14"/>
          <p:cNvSpPr/>
          <p:nvPr/>
        </p:nvSpPr>
        <p:spPr bwMode="auto">
          <a:xfrm>
            <a:off x="6583680" y="2606040"/>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FileZilla  </a:t>
            </a:r>
            <a:r>
              <a:rPr lang="en-US" sz="1250">
                <a:solidFill>
                  <a:srgbClr val="5A5A5A"/>
                </a:solidFill>
                <a:latin typeface="Calibri"/>
                <a:ea typeface="Calibri"/>
                <a:cs typeface="Calibri"/>
              </a:rPr>
              <a:t>Kostenlos, plattformübergreifend, sehr verbreitet</a:t>
            </a:r>
            <a:endParaRPr lang="en-US" sz="1250"/>
          </a:p>
        </p:txBody>
      </p:sp>
      <p:sp>
        <p:nvSpPr>
          <p:cNvPr id="118786917" name="Text 15"/>
          <p:cNvSpPr/>
          <p:nvPr/>
        </p:nvSpPr>
        <p:spPr bwMode="auto">
          <a:xfrm>
            <a:off x="6583680" y="3172968"/>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WinSCP  </a:t>
            </a:r>
            <a:r>
              <a:rPr lang="en-US" sz="1250">
                <a:solidFill>
                  <a:srgbClr val="5A5A5A"/>
                </a:solidFill>
                <a:latin typeface="Calibri"/>
                <a:ea typeface="Calibri"/>
                <a:cs typeface="Calibri"/>
              </a:rPr>
              <a:t>Für Windows, unterstützt zusätzlich SFTP/SCP</a:t>
            </a:r>
            <a:endParaRPr lang="en-US" sz="1250"/>
          </a:p>
        </p:txBody>
      </p:sp>
      <p:sp>
        <p:nvSpPr>
          <p:cNvPr id="768564821" name="Text 16"/>
          <p:cNvSpPr/>
          <p:nvPr/>
        </p:nvSpPr>
        <p:spPr bwMode="auto">
          <a:xfrm>
            <a:off x="6583680" y="3739896"/>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Cyberduck  </a:t>
            </a:r>
            <a:r>
              <a:rPr lang="en-US" sz="1250">
                <a:solidFill>
                  <a:srgbClr val="5A5A5A"/>
                </a:solidFill>
                <a:latin typeface="Calibri"/>
                <a:ea typeface="Calibri"/>
                <a:cs typeface="Calibri"/>
              </a:rPr>
              <a:t>macOS/Windows, Cloud-Speicher-Anbindung</a:t>
            </a:r>
            <a:endParaRPr lang="en-US" sz="1250"/>
          </a:p>
        </p:txBody>
      </p:sp>
      <p:sp>
        <p:nvSpPr>
          <p:cNvPr id="1675161492" name="Text 17"/>
          <p:cNvSpPr/>
          <p:nvPr/>
        </p:nvSpPr>
        <p:spPr bwMode="auto">
          <a:xfrm>
            <a:off x="6583680" y="4306824"/>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cURL  </a:t>
            </a:r>
            <a:r>
              <a:rPr lang="en-US" sz="1250">
                <a:solidFill>
                  <a:srgbClr val="5A5A5A"/>
                </a:solidFill>
                <a:latin typeface="Calibri"/>
                <a:ea typeface="Calibri"/>
                <a:cs typeface="Calibri"/>
              </a:rPr>
              <a:t>Kommandozeilen-Tool, auch für Skripte/Automatisierung</a:t>
            </a:r>
            <a:endParaRPr lang="en-US" sz="1250"/>
          </a:p>
        </p:txBody>
      </p:sp>
      <p:sp>
        <p:nvSpPr>
          <p:cNvPr id="669933887" name="Text 18"/>
          <p:cNvSpPr/>
          <p:nvPr/>
        </p:nvSpPr>
        <p:spPr bwMode="auto">
          <a:xfrm>
            <a:off x="6583680" y="4873752"/>
            <a:ext cx="4754880" cy="502920"/>
          </a:xfrm>
          <a:prstGeom prst="rect">
            <a:avLst/>
          </a:prstGeom>
          <a:noFill/>
          <a:ln/>
        </p:spPr>
        <p:txBody>
          <a:bodyPr wrap="square" rtlCol="0" anchor="ctr"/>
          <a:lstStyle/>
          <a:p>
            <a:pPr marL="0" indent="0">
              <a:buNone/>
              <a:defRPr/>
            </a:pPr>
            <a:r>
              <a:rPr lang="en-US" sz="1250" b="1">
                <a:solidFill>
                  <a:srgbClr val="111111"/>
                </a:solidFill>
                <a:latin typeface="Calibri"/>
                <a:ea typeface="Calibri"/>
                <a:cs typeface="Calibri"/>
              </a:rPr>
              <a:t>Browser / Dateimanager  </a:t>
            </a:r>
            <a:r>
              <a:rPr lang="en-US" sz="1250">
                <a:solidFill>
                  <a:srgbClr val="5A5A5A"/>
                </a:solidFill>
                <a:latin typeface="Calibri"/>
                <a:ea typeface="Calibri"/>
                <a:cs typeface="Calibri"/>
              </a:rPr>
              <a:t>Einfacher Zugriff über ftp://-Adressen</a:t>
            </a:r>
            <a:endParaRPr lang="en-US" sz="1250"/>
          </a:p>
        </p:txBody>
      </p:sp>
      <p:sp>
        <p:nvSpPr>
          <p:cNvPr id="2083321987" name="Text 19"/>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5A5A5A"/>
                </a:solidFill>
                <a:latin typeface="Calibri"/>
                <a:ea typeface="Calibri"/>
                <a:cs typeface="Calibri"/>
              </a:rPr>
              <a:t>FTP – File Transfer Protocol</a:t>
            </a:r>
            <a:endParaRPr lang="en-US" sz="900"/>
          </a:p>
        </p:txBody>
      </p:sp>
      <p:sp>
        <p:nvSpPr>
          <p:cNvPr id="1297822285" name="Text 20"/>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5A5A5A"/>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111111"/>
        </a:solidFill>
      </p:bgPr>
    </p:bg>
    <p:spTree>
      <p:nvGrpSpPr>
        <p:cNvPr id="1" name=""/>
        <p:cNvGrpSpPr/>
        <p:nvPr/>
      </p:nvGrpSpPr>
      <p:grpSpPr bwMode="auto">
        <a:xfrm>
          <a:off x="0" y="0"/>
          <a:ext cx="0" cy="0"/>
          <a:chOff x="0" y="0"/>
          <a:chExt cx="0" cy="0"/>
        </a:xfrm>
      </p:grpSpPr>
      <p:sp>
        <p:nvSpPr>
          <p:cNvPr id="563164576" name="Shape 0"/>
          <p:cNvSpPr/>
          <p:nvPr/>
        </p:nvSpPr>
        <p:spPr bwMode="auto">
          <a:xfrm>
            <a:off x="548640" y="512064"/>
            <a:ext cx="128016" cy="128016"/>
          </a:xfrm>
          <a:prstGeom prst="rect">
            <a:avLst/>
          </a:prstGeom>
          <a:solidFill>
            <a:srgbClr val="D0111B"/>
          </a:solidFill>
          <a:ln/>
        </p:spPr>
      </p:sp>
      <p:sp>
        <p:nvSpPr>
          <p:cNvPr id="11057958" name="Text 1"/>
          <p:cNvSpPr/>
          <p:nvPr/>
        </p:nvSpPr>
        <p:spPr bwMode="auto">
          <a:xfrm>
            <a:off x="768096" y="429768"/>
            <a:ext cx="8229600" cy="292608"/>
          </a:xfrm>
          <a:prstGeom prst="rect">
            <a:avLst/>
          </a:prstGeom>
          <a:noFill/>
          <a:ln/>
        </p:spPr>
        <p:txBody>
          <a:bodyPr wrap="square" rtlCol="0" anchor="ctr"/>
          <a:lstStyle/>
          <a:p>
            <a:pPr marL="0" indent="0">
              <a:buNone/>
              <a:defRPr/>
            </a:pPr>
            <a:r>
              <a:rPr lang="en-US" sz="1300" b="1" spc="200">
                <a:solidFill>
                  <a:srgbClr val="FFFFFF"/>
                </a:solidFill>
                <a:latin typeface="Calibri"/>
                <a:ea typeface="Calibri"/>
                <a:cs typeface="Calibri"/>
              </a:rPr>
              <a:t>FAZIT</a:t>
            </a:r>
            <a:endParaRPr lang="en-US" sz="1300"/>
          </a:p>
        </p:txBody>
      </p:sp>
      <p:sp>
        <p:nvSpPr>
          <p:cNvPr id="406054811" name="Text 2"/>
          <p:cNvSpPr/>
          <p:nvPr/>
        </p:nvSpPr>
        <p:spPr bwMode="auto">
          <a:xfrm>
            <a:off x="548640" y="777240"/>
            <a:ext cx="8229600" cy="640080"/>
          </a:xfrm>
          <a:prstGeom prst="rect">
            <a:avLst/>
          </a:prstGeom>
          <a:noFill/>
          <a:ln/>
        </p:spPr>
        <p:txBody>
          <a:bodyPr wrap="square" rtlCol="0" anchor="ctr"/>
          <a:lstStyle/>
          <a:p>
            <a:pPr marL="0" indent="0">
              <a:buNone/>
              <a:defRPr/>
            </a:pPr>
            <a:r>
              <a:rPr lang="en-US" sz="3400" b="1">
                <a:solidFill>
                  <a:srgbClr val="FFFFFF"/>
                </a:solidFill>
                <a:latin typeface="Cambria"/>
                <a:ea typeface="Cambria"/>
                <a:cs typeface="Cambria"/>
              </a:rPr>
              <a:t>Zusammenfassung</a:t>
            </a:r>
            <a:endParaRPr lang="en-US" sz="3400"/>
          </a:p>
        </p:txBody>
      </p:sp>
      <p:sp>
        <p:nvSpPr>
          <p:cNvPr id="233464326" name="Shape 3"/>
          <p:cNvSpPr/>
          <p:nvPr/>
        </p:nvSpPr>
        <p:spPr bwMode="auto">
          <a:xfrm>
            <a:off x="548640" y="1828800"/>
            <a:ext cx="3611880" cy="2834640"/>
          </a:xfrm>
          <a:prstGeom prst="rect">
            <a:avLst/>
          </a:prstGeom>
          <a:solidFill>
            <a:srgbClr val="1A1A1A"/>
          </a:solidFill>
          <a:ln/>
        </p:spPr>
      </p:sp>
      <p:sp>
        <p:nvSpPr>
          <p:cNvPr id="1584643543" name="Shape 4"/>
          <p:cNvSpPr/>
          <p:nvPr/>
        </p:nvSpPr>
        <p:spPr bwMode="auto">
          <a:xfrm>
            <a:off x="548640" y="1828800"/>
            <a:ext cx="3611880" cy="73152"/>
          </a:xfrm>
          <a:prstGeom prst="rect">
            <a:avLst/>
          </a:prstGeom>
          <a:solidFill>
            <a:srgbClr val="D0111B"/>
          </a:solidFill>
          <a:ln/>
        </p:spPr>
      </p:sp>
      <p:sp>
        <p:nvSpPr>
          <p:cNvPr id="775270607" name="Shape 5"/>
          <p:cNvSpPr/>
          <p:nvPr/>
        </p:nvSpPr>
        <p:spPr bwMode="auto">
          <a:xfrm>
            <a:off x="804672" y="2121408"/>
            <a:ext cx="594360" cy="594360"/>
          </a:xfrm>
          <a:prstGeom prst="rect">
            <a:avLst/>
          </a:prstGeom>
          <a:solidFill>
            <a:srgbClr val="D0111B"/>
          </a:solidFill>
          <a:ln/>
        </p:spPr>
      </p:sp>
      <p:pic>
        <p:nvPicPr>
          <p:cNvPr id="400316909" name="Image 0" descr="preencoded.png"/>
          <p:cNvPicPr>
            <a:picLocks noChangeAspect="1"/>
          </p:cNvPicPr>
          <p:nvPr/>
        </p:nvPicPr>
        <p:blipFill rotWithShape="1">
          <a:blip r:embed="rId3"/>
          <a:stretch/>
        </p:blipFill>
        <p:spPr bwMode="auto">
          <a:xfrm>
            <a:off x="881938" y="2198675"/>
            <a:ext cx="439826" cy="439826"/>
          </a:xfrm>
          <a:prstGeom prst="rect">
            <a:avLst/>
          </a:prstGeom>
        </p:spPr>
      </p:pic>
      <p:sp>
        <p:nvSpPr>
          <p:cNvPr id="1160652378" name="Text 6"/>
          <p:cNvSpPr/>
          <p:nvPr/>
        </p:nvSpPr>
        <p:spPr bwMode="auto">
          <a:xfrm>
            <a:off x="777240" y="2834640"/>
            <a:ext cx="3154680" cy="502920"/>
          </a:xfrm>
          <a:prstGeom prst="rect">
            <a:avLst/>
          </a:prstGeom>
          <a:noFill/>
          <a:ln/>
        </p:spPr>
        <p:txBody>
          <a:bodyPr wrap="square" rtlCol="0" anchor="ctr"/>
          <a:lstStyle/>
          <a:p>
            <a:pPr marL="0" indent="0">
              <a:buNone/>
              <a:defRPr/>
            </a:pPr>
            <a:r>
              <a:rPr lang="en-US" sz="1550" b="1">
                <a:solidFill>
                  <a:srgbClr val="FFFFFF"/>
                </a:solidFill>
                <a:latin typeface="Calibri"/>
                <a:ea typeface="Calibri"/>
                <a:cs typeface="Calibri"/>
              </a:rPr>
              <a:t>Bewährt &amp; einfach</a:t>
            </a:r>
            <a:endParaRPr lang="en-US" sz="1550"/>
          </a:p>
        </p:txBody>
      </p:sp>
      <p:sp>
        <p:nvSpPr>
          <p:cNvPr id="2082501238" name="Text 7"/>
          <p:cNvSpPr/>
          <p:nvPr/>
        </p:nvSpPr>
        <p:spPr bwMode="auto">
          <a:xfrm>
            <a:off x="777240" y="3337560"/>
            <a:ext cx="3154680" cy="1188720"/>
          </a:xfrm>
          <a:prstGeom prst="rect">
            <a:avLst/>
          </a:prstGeom>
          <a:noFill/>
          <a:ln/>
        </p:spPr>
        <p:txBody>
          <a:bodyPr wrap="square" rtlCol="0" anchor="ctr"/>
          <a:lstStyle/>
          <a:p>
            <a:pPr marL="0" indent="0">
              <a:buNone/>
              <a:defRPr/>
            </a:pPr>
            <a:r>
              <a:rPr lang="en-US" sz="1200">
                <a:solidFill>
                  <a:srgbClr val="CCCCCC"/>
                </a:solidFill>
                <a:latin typeface="Calibri"/>
                <a:ea typeface="Calibri"/>
                <a:cs typeface="Calibri"/>
              </a:rPr>
              <a:t>FTP ist seit 1985 (RFC 959) standardisiert und technisch simpel umzusetzen</a:t>
            </a:r>
            <a:endParaRPr lang="en-US" sz="1200"/>
          </a:p>
        </p:txBody>
      </p:sp>
      <p:sp>
        <p:nvSpPr>
          <p:cNvPr id="258336776" name="Shape 8"/>
          <p:cNvSpPr/>
          <p:nvPr/>
        </p:nvSpPr>
        <p:spPr bwMode="auto">
          <a:xfrm>
            <a:off x="4480560" y="1828800"/>
            <a:ext cx="3611880" cy="2834640"/>
          </a:xfrm>
          <a:prstGeom prst="rect">
            <a:avLst/>
          </a:prstGeom>
          <a:solidFill>
            <a:srgbClr val="1A1A1A"/>
          </a:solidFill>
          <a:ln/>
        </p:spPr>
      </p:sp>
      <p:sp>
        <p:nvSpPr>
          <p:cNvPr id="1583154028" name="Shape 9"/>
          <p:cNvSpPr/>
          <p:nvPr/>
        </p:nvSpPr>
        <p:spPr bwMode="auto">
          <a:xfrm>
            <a:off x="4480560" y="1828800"/>
            <a:ext cx="3611880" cy="73152"/>
          </a:xfrm>
          <a:prstGeom prst="rect">
            <a:avLst/>
          </a:prstGeom>
          <a:solidFill>
            <a:srgbClr val="D0111B"/>
          </a:solidFill>
          <a:ln/>
        </p:spPr>
      </p:sp>
      <p:sp>
        <p:nvSpPr>
          <p:cNvPr id="1932425434" name="Shape 10"/>
          <p:cNvSpPr/>
          <p:nvPr/>
        </p:nvSpPr>
        <p:spPr bwMode="auto">
          <a:xfrm>
            <a:off x="4736592" y="2121408"/>
            <a:ext cx="594360" cy="594360"/>
          </a:xfrm>
          <a:prstGeom prst="rect">
            <a:avLst/>
          </a:prstGeom>
          <a:solidFill>
            <a:srgbClr val="D0111B"/>
          </a:solidFill>
          <a:ln/>
        </p:spPr>
      </p:sp>
      <p:pic>
        <p:nvPicPr>
          <p:cNvPr id="1460720333" name="Image 1" descr="preencoded.png"/>
          <p:cNvPicPr>
            <a:picLocks noChangeAspect="1"/>
          </p:cNvPicPr>
          <p:nvPr/>
        </p:nvPicPr>
        <p:blipFill rotWithShape="1">
          <a:blip r:embed="rId4"/>
          <a:stretch/>
        </p:blipFill>
        <p:spPr bwMode="auto">
          <a:xfrm>
            <a:off x="4813859" y="2198675"/>
            <a:ext cx="439826" cy="439826"/>
          </a:xfrm>
          <a:prstGeom prst="rect">
            <a:avLst/>
          </a:prstGeom>
        </p:spPr>
      </p:pic>
      <p:sp>
        <p:nvSpPr>
          <p:cNvPr id="809269387" name="Text 11"/>
          <p:cNvSpPr/>
          <p:nvPr/>
        </p:nvSpPr>
        <p:spPr bwMode="auto">
          <a:xfrm>
            <a:off x="4709160" y="2834640"/>
            <a:ext cx="3154680" cy="502920"/>
          </a:xfrm>
          <a:prstGeom prst="rect">
            <a:avLst/>
          </a:prstGeom>
          <a:noFill/>
          <a:ln/>
        </p:spPr>
        <p:txBody>
          <a:bodyPr wrap="square" rtlCol="0" anchor="ctr"/>
          <a:lstStyle/>
          <a:p>
            <a:pPr marL="0" indent="0">
              <a:buNone/>
              <a:defRPr/>
            </a:pPr>
            <a:r>
              <a:rPr lang="en-US" sz="1550" b="1">
                <a:solidFill>
                  <a:srgbClr val="FFFFFF"/>
                </a:solidFill>
                <a:latin typeface="Calibri"/>
                <a:ea typeface="Calibri"/>
                <a:cs typeface="Calibri"/>
              </a:rPr>
              <a:t>Sicherheitslücken</a:t>
            </a:r>
            <a:endParaRPr lang="en-US" sz="1550"/>
          </a:p>
        </p:txBody>
      </p:sp>
      <p:sp>
        <p:nvSpPr>
          <p:cNvPr id="39779809" name="Text 12"/>
          <p:cNvSpPr/>
          <p:nvPr/>
        </p:nvSpPr>
        <p:spPr bwMode="auto">
          <a:xfrm>
            <a:off x="4709160" y="3337560"/>
            <a:ext cx="3154680" cy="1188720"/>
          </a:xfrm>
          <a:prstGeom prst="rect">
            <a:avLst/>
          </a:prstGeom>
          <a:noFill/>
          <a:ln/>
        </p:spPr>
        <p:txBody>
          <a:bodyPr wrap="square" rtlCol="0" anchor="ctr"/>
          <a:lstStyle/>
          <a:p>
            <a:pPr marL="0" indent="0">
              <a:buNone/>
              <a:defRPr/>
            </a:pPr>
            <a:r>
              <a:rPr lang="en-US" sz="1200">
                <a:solidFill>
                  <a:srgbClr val="CCCCCC"/>
                </a:solidFill>
                <a:latin typeface="Calibri"/>
                <a:ea typeface="Calibri"/>
                <a:cs typeface="Calibri"/>
              </a:rPr>
              <a:t>Klartextübertragung macht klassisches FTP für sensible Daten ungeeignet</a:t>
            </a:r>
            <a:endParaRPr lang="en-US" sz="1200"/>
          </a:p>
        </p:txBody>
      </p:sp>
      <p:sp>
        <p:nvSpPr>
          <p:cNvPr id="733222820" name="Shape 13"/>
          <p:cNvSpPr/>
          <p:nvPr/>
        </p:nvSpPr>
        <p:spPr bwMode="auto">
          <a:xfrm>
            <a:off x="8412480" y="1828800"/>
            <a:ext cx="3611880" cy="2834640"/>
          </a:xfrm>
          <a:prstGeom prst="rect">
            <a:avLst/>
          </a:prstGeom>
          <a:solidFill>
            <a:srgbClr val="1A1A1A"/>
          </a:solidFill>
          <a:ln/>
        </p:spPr>
      </p:sp>
      <p:sp>
        <p:nvSpPr>
          <p:cNvPr id="462978636" name="Shape 14"/>
          <p:cNvSpPr/>
          <p:nvPr/>
        </p:nvSpPr>
        <p:spPr bwMode="auto">
          <a:xfrm>
            <a:off x="8412480" y="1828800"/>
            <a:ext cx="3611880" cy="73152"/>
          </a:xfrm>
          <a:prstGeom prst="rect">
            <a:avLst/>
          </a:prstGeom>
          <a:solidFill>
            <a:srgbClr val="D0111B"/>
          </a:solidFill>
          <a:ln/>
        </p:spPr>
      </p:sp>
      <p:sp>
        <p:nvSpPr>
          <p:cNvPr id="132981830" name="Shape 15"/>
          <p:cNvSpPr/>
          <p:nvPr/>
        </p:nvSpPr>
        <p:spPr bwMode="auto">
          <a:xfrm>
            <a:off x="8668512" y="2121408"/>
            <a:ext cx="594360" cy="594360"/>
          </a:xfrm>
          <a:prstGeom prst="rect">
            <a:avLst/>
          </a:prstGeom>
          <a:solidFill>
            <a:srgbClr val="D0111B"/>
          </a:solidFill>
          <a:ln/>
        </p:spPr>
      </p:sp>
      <p:pic>
        <p:nvPicPr>
          <p:cNvPr id="1555311334" name="Image 2" descr="preencoded.png"/>
          <p:cNvPicPr>
            <a:picLocks noChangeAspect="1"/>
          </p:cNvPicPr>
          <p:nvPr/>
        </p:nvPicPr>
        <p:blipFill rotWithShape="1">
          <a:blip r:embed="rId5"/>
          <a:stretch/>
        </p:blipFill>
        <p:spPr bwMode="auto">
          <a:xfrm>
            <a:off x="8745779" y="2198675"/>
            <a:ext cx="439826" cy="439826"/>
          </a:xfrm>
          <a:prstGeom prst="rect">
            <a:avLst/>
          </a:prstGeom>
        </p:spPr>
      </p:pic>
      <p:sp>
        <p:nvSpPr>
          <p:cNvPr id="1164744217" name="Text 16"/>
          <p:cNvSpPr/>
          <p:nvPr/>
        </p:nvSpPr>
        <p:spPr bwMode="auto">
          <a:xfrm>
            <a:off x="8641080" y="2834640"/>
            <a:ext cx="3154680" cy="502920"/>
          </a:xfrm>
          <a:prstGeom prst="rect">
            <a:avLst/>
          </a:prstGeom>
          <a:noFill/>
          <a:ln/>
        </p:spPr>
        <p:txBody>
          <a:bodyPr wrap="square" rtlCol="0" anchor="ctr"/>
          <a:lstStyle/>
          <a:p>
            <a:pPr marL="0" indent="0">
              <a:buNone/>
              <a:defRPr/>
            </a:pPr>
            <a:r>
              <a:rPr lang="en-US" sz="1550" b="1">
                <a:solidFill>
                  <a:srgbClr val="FFFFFF"/>
                </a:solidFill>
                <a:latin typeface="Calibri"/>
                <a:ea typeface="Calibri"/>
                <a:cs typeface="Calibri"/>
              </a:rPr>
              <a:t>Sichere Alternativen nutzen</a:t>
            </a:r>
            <a:endParaRPr lang="en-US" sz="1550"/>
          </a:p>
        </p:txBody>
      </p:sp>
      <p:sp>
        <p:nvSpPr>
          <p:cNvPr id="1991748617" name="Text 17"/>
          <p:cNvSpPr/>
          <p:nvPr/>
        </p:nvSpPr>
        <p:spPr bwMode="auto">
          <a:xfrm>
            <a:off x="8641080" y="3337560"/>
            <a:ext cx="3154680" cy="1188720"/>
          </a:xfrm>
          <a:prstGeom prst="rect">
            <a:avLst/>
          </a:prstGeom>
          <a:noFill/>
          <a:ln/>
        </p:spPr>
        <p:txBody>
          <a:bodyPr wrap="square" rtlCol="0" anchor="ctr"/>
          <a:lstStyle/>
          <a:p>
            <a:pPr marL="0" indent="0">
              <a:buNone/>
              <a:defRPr/>
            </a:pPr>
            <a:r>
              <a:rPr lang="en-US" sz="1200">
                <a:solidFill>
                  <a:srgbClr val="CCCCCC"/>
                </a:solidFill>
                <a:latin typeface="Calibri"/>
                <a:ea typeface="Calibri"/>
                <a:cs typeface="Calibri"/>
              </a:rPr>
              <a:t>FTPS oder SFTP für produktive und sicherheitskritische Umgebungen</a:t>
            </a:r>
            <a:endParaRPr lang="en-US" sz="1200"/>
          </a:p>
        </p:txBody>
      </p:sp>
      <p:sp>
        <p:nvSpPr>
          <p:cNvPr id="256843383" name="Text 18"/>
          <p:cNvSpPr/>
          <p:nvPr/>
        </p:nvSpPr>
        <p:spPr bwMode="auto">
          <a:xfrm>
            <a:off x="548640" y="5074920"/>
            <a:ext cx="11064240" cy="548640"/>
          </a:xfrm>
          <a:prstGeom prst="rect">
            <a:avLst/>
          </a:prstGeom>
          <a:noFill/>
          <a:ln/>
        </p:spPr>
        <p:txBody>
          <a:bodyPr wrap="square" rtlCol="0" anchor="ctr"/>
          <a:lstStyle/>
          <a:p>
            <a:pPr marL="0" indent="0" algn="ctr">
              <a:buNone/>
              <a:defRPr/>
            </a:pPr>
            <a:r>
              <a:rPr lang="en-US" sz="1700" i="1">
                <a:solidFill>
                  <a:srgbClr val="FFFFFF"/>
                </a:solidFill>
                <a:latin typeface="Calibri"/>
                <a:ea typeface="Calibri"/>
                <a:cs typeface="Calibri"/>
              </a:rPr>
              <a:t>Vielen Dank für die Aufmerksamkeit — Fragen?</a:t>
            </a:r>
            <a:endParaRPr lang="en-US" sz="1700"/>
          </a:p>
        </p:txBody>
      </p:sp>
      <p:sp>
        <p:nvSpPr>
          <p:cNvPr id="269034242" name="Text 19"/>
          <p:cNvSpPr/>
          <p:nvPr/>
        </p:nvSpPr>
        <p:spPr bwMode="auto">
          <a:xfrm>
            <a:off x="457200" y="6473952"/>
            <a:ext cx="5486400" cy="274320"/>
          </a:xfrm>
          <a:prstGeom prst="rect">
            <a:avLst/>
          </a:prstGeom>
          <a:noFill/>
          <a:ln/>
        </p:spPr>
        <p:txBody>
          <a:bodyPr wrap="square" rtlCol="0" anchor="ctr"/>
          <a:lstStyle/>
          <a:p>
            <a:pPr marL="0" indent="0">
              <a:buNone/>
              <a:defRPr/>
            </a:pPr>
            <a:r>
              <a:rPr lang="en-US" sz="900">
                <a:solidFill>
                  <a:srgbClr val="D9B9B9"/>
                </a:solidFill>
                <a:latin typeface="Calibri"/>
                <a:ea typeface="Calibri"/>
                <a:cs typeface="Calibri"/>
              </a:rPr>
              <a:t>FTP – File Transfer Protocol</a:t>
            </a:r>
            <a:endParaRPr lang="en-US" sz="900"/>
          </a:p>
        </p:txBody>
      </p:sp>
      <p:sp>
        <p:nvSpPr>
          <p:cNvPr id="1418245156" name="Text 20"/>
          <p:cNvSpPr/>
          <p:nvPr/>
        </p:nvSpPr>
        <p:spPr bwMode="auto">
          <a:xfrm>
            <a:off x="11277295" y="6473952"/>
            <a:ext cx="457200" cy="274320"/>
          </a:xfrm>
          <a:prstGeom prst="rect">
            <a:avLst/>
          </a:prstGeom>
          <a:noFill/>
          <a:ln/>
        </p:spPr>
        <p:txBody>
          <a:bodyPr wrap="square" rtlCol="0" anchor="ctr"/>
          <a:lstStyle/>
          <a:p>
            <a:pPr marL="0" indent="0" algn="r">
              <a:buNone/>
              <a:defRPr/>
            </a:pPr>
            <a:r>
              <a:rPr lang="en-US" sz="900">
                <a:solidFill>
                  <a:srgbClr val="D9B9B9"/>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FTP - File Transfer Protocol</dc:title>
  <dc:subject>PptxGenJS Presentation</dc:subject>
  <dc:creator>Matthias</dc:creator>
  <cp:lastModifiedBy/>
  <cp:revision>2</cp:revision>
  <dcterms:created xsi:type="dcterms:W3CDTF">2026-07-15T10:25:10Z</dcterms:created>
  <dcterms:modified xsi:type="dcterms:W3CDTF">2026-07-15T10:27:49Z</dcterms:modified>
</cp:coreProperties>
</file>