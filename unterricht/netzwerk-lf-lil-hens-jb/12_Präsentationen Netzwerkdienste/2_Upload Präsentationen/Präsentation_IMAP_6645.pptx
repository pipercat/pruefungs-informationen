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7" r:id="rId2"/>
    <p:sldId id="271" r:id="rId3"/>
    <p:sldId id="268" r:id="rId4"/>
    <p:sldId id="259" r:id="rId5"/>
    <p:sldId id="269" r:id="rId6"/>
    <p:sldId id="263" r:id="rId7"/>
    <p:sldId id="266" r:id="rId8"/>
    <p:sldId id="26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BEF"/>
    <a:srgbClr val="5D93FF"/>
    <a:srgbClr val="DFF0FF"/>
    <a:srgbClr val="FFCDD7"/>
    <a:srgbClr val="7A80F2"/>
    <a:srgbClr val="FF9CB0"/>
    <a:srgbClr val="3B43EC"/>
    <a:srgbClr val="FE427D"/>
    <a:srgbClr val="ECF7FF"/>
    <a:srgbClr val="FFD9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03" autoAdjust="0"/>
    <p:restoredTop sz="65860" autoAdjust="0"/>
  </p:normalViewPr>
  <p:slideViewPr>
    <p:cSldViewPr snapToGrid="0">
      <p:cViewPr varScale="1">
        <p:scale>
          <a:sx n="111" d="100"/>
          <a:sy n="111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8647D-AE02-45E5-87C3-8DD75807C27D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A740F-F2D7-48DD-9831-B709C76C0D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136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Wir gehen heute auf vier Punkte ein: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Zuerst klären wir, was IMAP überhaupt ist. Danach schauen wir uns an, wie IMAP genau funktioniert.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Anschließend sprechen wir über die Vor- und Nachteile, und zum Schluss vergleichen wir IMAP mit POP3.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A740F-F2D7-48DD-9831-B709C76C0D3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653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IMAP ist ein E-Mail-Protokoll. Es dient dazu, E-Mails von einem Mailserver abzurufen und zu verwalten. </a:t>
            </a:r>
          </a:p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Dabei nutzt IMAP zwei Standard-Ports: </a:t>
            </a:r>
          </a:p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Port 143 für die unverschlüsselte Verbindung und Port 993 für eine verschlüsselte Verbindung über SSL/TLS.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A740F-F2D7-48DD-9831-B709C76C0D3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722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IMAP funktioniert so: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Zunächst baut das Gerät eine Verbindung zum Mailserver auf. Wichtig dabei ist – die E-Mails bleiben immer auf dem Server gespeichert, sie werden also nicht heruntergeladen und gelöscht.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Dadurch findet eine Synchronisation zwischen allen Geräten statt: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Egal ob Handy, Tablet oder PC – alle Geräte verbinden sich mit demselben Server.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Wenn ich zum Beispiel auf meinem Handy eine E-Mail lese oder lösche, wird diese Änderung sofort auf dem Server gespeichert.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TeleNeo Web"/>
              </a:rPr>
              <a:t>Deshalb sehen Laptop und PC direkt danach denselben Stand.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A740F-F2D7-48DD-9831-B709C76C0D3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3995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Ein großer Vorteil von IMAP ist, dass man von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mehreren Geräten auf dieselben E-Mails 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zugreifen kann, </a:t>
            </a:r>
          </a:p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Dabei bleiben die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Nachrichten auf dem Server gespeichert 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und die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Ordner werden zwischen den Geräten synchronisiert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sodass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überall derselbe Stand 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zu sehen ist.</a:t>
            </a:r>
          </a:p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zum Beispiel gleichzeitig vom Smartphone, Laptop oder PC. </a:t>
            </a:r>
          </a:p>
          <a:p>
            <a:pPr algn="l" rtl="0" fontAlgn="b"/>
            <a:endParaRPr lang="de-DE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Nachteil:</a:t>
            </a:r>
          </a:p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 den meisten Fällen braucht man eine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Internetverbindung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um auf alle E-Mails vollständig zugreifen zu können. Außerdem kann der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Speicherplatz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auf dem Server mit der Zeit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voll werden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und IMAP arbeitet teilweise etwas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langsamer als POP3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weil die Daten nicht einfach nur heruntergeladen, sondern ständig mit dem Server abgeglichen werden.</a:t>
            </a:r>
            <a:b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de-DE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A740F-F2D7-48DD-9831-B709C76C0D3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9137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Damit kommen wir zum Vergleich zwischen IMAP und POP3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A740F-F2D7-48DD-9831-B709C76C0D3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1787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Bei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IMAP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bleiben die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E-Mails auf dem Server 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und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mehrere Geräte werden synchron gehalten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Deshalb gilt IMAP heute </a:t>
            </a:r>
            <a:r>
              <a:rPr lang="de-DE" b="1" i="0" u="sng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als die modernere und flexiblere Lösung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Bei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POP3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werden E-Mails meist auf ein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einzelnes Gerät heruntergeladen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Dadurch gibt es normalerweise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keine Synchronisation zwischen mehreren Geräten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und deshalb </a:t>
            </a:r>
            <a:r>
              <a:rPr lang="de-DE" b="1" i="0" u="sng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eignet sich POP3 eher für die Nutzung auf nur einem Gerät</a:t>
            </a:r>
            <a:r>
              <a:rPr lang="de-DE" b="0" i="0" u="sng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de-DE" u="sng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A740F-F2D7-48DD-9831-B709C76C0D36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2728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IMAP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verwaltet E-Mails zentral auf dem Server </a:t>
            </a: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und sorgt dafür, dass </a:t>
            </a:r>
            <a:r>
              <a:rPr lang="de-DE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alle Geräte immer auf demselben Stand sind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und ist deshalb heute der Standard in vielen E-Mail-Programmen.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A740F-F2D7-48DD-9831-B709C76C0D3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7785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25724-0495-ED71-18F6-7E6EA0CCC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E21D9FC-D80C-ACD1-4A8D-365DCD149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B5CAB2-EB71-4B8B-6A35-424CAA120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DE04E2-7FA2-D216-7B89-B36844967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BBE917-DA19-56A0-9F75-3675DD73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407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E42A89-EAA2-F86A-25E7-8D5ABFE61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40CD42-F13F-E648-543B-DE5171A05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B05EB7-F0DC-DE07-A1FB-139C636A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82B4D2-CEBA-7A2C-4EAE-91FCC0DB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7BA04A-C0E2-FCBF-A2A1-7215FD4BC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082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F4EC6-5B25-9295-7E8E-F4A086C3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80EE85-5D65-A11E-2A38-22915206A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415444-3975-C27E-95C8-27BB13E0F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03E421-1677-9D15-61FC-F5235C6A4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B705A9-0FBE-9A3A-D8D9-1230240D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769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BF949E-E49B-8DEA-B173-D4A2E1770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70453A-71BB-AABE-5B6B-49ECCEB32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9BBD4B-AC0F-8C5B-6812-3A10AA11F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72DC73-9B45-9359-7303-E4941D23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3C9898-5166-0CC6-64B1-4BE0DA4FA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62BE10-4575-2211-0777-9736F506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3721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B5CC50-7291-CAA1-5141-009613392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DD28C3-0348-0B8A-2944-E6D0836F5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398EAD-FB51-276B-F198-5F534648A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F47582-9468-0C40-7853-6055540F7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C06A9BB-B390-B198-2244-43121465B2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304A823-58DC-E089-5846-5675EB2E4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3AAD9BF-9FA2-996F-4A49-837680F7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80116A9-0F46-E4CB-5D3E-C96BAB1D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9800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5C448-652E-104C-3E05-1C2C4FD9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AB40BA-60B1-9915-7289-921486CCA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B621118-6637-6278-B300-898D4D331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3E1AB5-6D12-D8F8-883D-884CC733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508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0EB8CFD-9C93-5804-F812-2F4A1C94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69C3645-7367-7C6F-1A66-7F7D0129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614FD6-835F-664D-17C9-FB0408B1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48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E71BDA-0B0A-BB06-B03A-1054BBF4F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BFB80C-0CA7-62A7-B8DD-A8162E8EE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C2584D-8BD2-B0D6-2BD2-650DCBAEF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9212B9-7B43-79FE-3CDD-2163FD7B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618B46-5DD4-4FB2-6861-782BD7A0F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FBFA73-AED9-33DC-2242-F7CC33C0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207966-FDF7-E48C-DFD7-0E9E933C0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7F1277B-E8D9-64BD-65CF-089D6459B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4804F0-85B8-8A1A-55F0-CAB017DD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FFC05E6-1AD8-5482-922B-6E50AEA14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EFE75E-74F1-7C8D-F5A8-84AAC1189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5C3F13-A6D0-6961-EE2E-9E626F817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1671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A4BCB3-AC46-A963-073D-6A0BA9A04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AA4C877-5DF4-34A1-5B78-B1176321E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111A19-502D-EE53-118D-A7FB38BBA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55DECC-D3F6-55E1-7C94-5176E3C9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20C754-E8CF-C32C-E440-98CE3163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233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09E8F5B-A019-6F4A-E020-017108548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DBDCEA3-434D-8710-8E02-B5B594580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F39BFF-2D4B-58C1-D282-3341FC1D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14DE80-F0D3-7DFA-8DC0-EBBCB7C2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1BB014-1200-1B6E-A190-CE17960F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844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A1FC600-84C1-3549-880A-3FEF64318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0A8303-F8F8-1C88-C43A-5A25ED4B9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097EDA-EDA0-0220-3A45-2CA1E9A0C9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06F0A-2298-48FA-809C-C2E07C97B0D7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2C3B3F-362E-9F2F-0F31-652EF3E8D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206369-44D8-E61C-E073-8EFAB6107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35BE55-DA25-4C56-A687-E43032B0C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700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P internet message access protocol. Web software digital graphic ...">
            <a:extLst>
              <a:ext uri="{FF2B5EF4-FFF2-40B4-BE49-F238E27FC236}">
                <a16:creationId xmlns:a16="http://schemas.microsoft.com/office/drawing/2014/main" id="{F23C5906-6F0E-24F2-C334-95BC15F26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7050"/>
            <a:ext cx="12192000" cy="580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11F3B78-D2F8-AE80-0084-D5DC681BFBA6}"/>
              </a:ext>
            </a:extLst>
          </p:cNvPr>
          <p:cNvSpPr txBox="1"/>
          <p:nvPr/>
        </p:nvSpPr>
        <p:spPr>
          <a:xfrm>
            <a:off x="0" y="4954385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rgbClr val="FE427D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Von Amelie und Jana</a:t>
            </a:r>
          </a:p>
        </p:txBody>
      </p:sp>
    </p:spTree>
    <p:extLst>
      <p:ext uri="{BB962C8B-B14F-4D97-AF65-F5344CB8AC3E}">
        <p14:creationId xmlns:p14="http://schemas.microsoft.com/office/powerpoint/2010/main" val="2155864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0712E7E-A006-6A2D-527E-FD80ADB04086}"/>
              </a:ext>
            </a:extLst>
          </p:cNvPr>
          <p:cNvSpPr/>
          <p:nvPr/>
        </p:nvSpPr>
        <p:spPr>
          <a:xfrm>
            <a:off x="581891" y="1690688"/>
            <a:ext cx="5181600" cy="4486275"/>
          </a:xfrm>
          <a:prstGeom prst="roundRect">
            <a:avLst/>
          </a:prstGeom>
          <a:solidFill>
            <a:srgbClr val="FFD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BE9CDB5-C705-FCD3-7046-57A3F946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i="0" dirty="0">
                <a:solidFill>
                  <a:srgbClr val="7A80F2"/>
                </a:solidFill>
                <a:effectLst/>
                <a:latin typeface="72 Black" panose="020B0A04030603020204" pitchFamily="34" charset="0"/>
                <a:cs typeface="72 Black" panose="020B0A04030603020204" pitchFamily="34" charset="0"/>
              </a:rPr>
              <a:t>Agenda</a:t>
            </a:r>
            <a:r>
              <a:rPr lang="de-DE" b="1" i="0" dirty="0">
                <a:solidFill>
                  <a:srgbClr val="5D93FF"/>
                </a:solidFill>
                <a:effectLst/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endParaRPr lang="de-DE" dirty="0">
              <a:solidFill>
                <a:srgbClr val="5D93FF"/>
              </a:solidFill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3C03FF-5615-C71D-A057-260BE1AD3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493818"/>
            <a:ext cx="5181600" cy="3849399"/>
          </a:xfrm>
        </p:spPr>
        <p:txBody>
          <a:bodyPr/>
          <a:lstStyle/>
          <a:p>
            <a:pPr algn="l" rtl="0" fontAlgn="b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Was Ist IMAP?</a:t>
            </a:r>
          </a:p>
          <a:p>
            <a:pPr algn="l" rtl="0" fontAlgn="b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Wie Funktioniert IMAP?</a:t>
            </a:r>
          </a:p>
          <a:p>
            <a:pPr algn="l" rtl="0" fontAlgn="b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Vorteile | Nachteile</a:t>
            </a:r>
          </a:p>
          <a:p>
            <a:pPr algn="l" rtl="0" fontAlgn="b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22222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IMAP</a:t>
            </a: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 Im Vergleich Zu POP3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D8630DD-BC04-F152-864C-EC812469B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l="3972" t="24520" b="4830"/>
          <a:stretch/>
        </p:blipFill>
        <p:spPr>
          <a:xfrm>
            <a:off x="6666807" y="1991845"/>
            <a:ext cx="4394662" cy="377970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7ACCE90-7711-727D-150C-AF589F56BBCE}"/>
              </a:ext>
            </a:extLst>
          </p:cNvPr>
          <p:cNvSpPr txBox="1"/>
          <p:nvPr/>
        </p:nvSpPr>
        <p:spPr>
          <a:xfrm>
            <a:off x="10802983" y="634321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33883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DC072AF8-EE5C-55F2-32BF-DEB6BA86C9F6}"/>
              </a:ext>
            </a:extLst>
          </p:cNvPr>
          <p:cNvSpPr/>
          <p:nvPr/>
        </p:nvSpPr>
        <p:spPr>
          <a:xfrm>
            <a:off x="1363286" y="1862050"/>
            <a:ext cx="8994371" cy="3624349"/>
          </a:xfrm>
          <a:prstGeom prst="roundRect">
            <a:avLst>
              <a:gd name="adj" fmla="val 18198"/>
            </a:avLst>
          </a:prstGeom>
          <a:solidFill>
            <a:srgbClr val="FFCDD7"/>
          </a:solidFill>
          <a:ln w="38100">
            <a:solidFill>
              <a:srgbClr val="FFCD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6BB9F9-AEE8-93A8-B136-31B5F4DF9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8" y="2277174"/>
            <a:ext cx="9144001" cy="4281661"/>
          </a:xfrm>
        </p:spPr>
        <p:txBody>
          <a:bodyPr/>
          <a:lstStyle/>
          <a:p>
            <a:pPr algn="l" rtl="0" fontAlgn="b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IMAP ist ein E-Mail-Protokoll.</a:t>
            </a:r>
          </a:p>
          <a:p>
            <a:pPr algn="l" rtl="0" fontAlgn="b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Es dient dazu, E-Mails von einem Mailserver abzurufen und zu verwalten.</a:t>
            </a:r>
          </a:p>
          <a:p>
            <a:pPr algn="l" rtl="0" fontAlgn="b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Standard-Port:</a:t>
            </a:r>
          </a:p>
          <a:p>
            <a:pPr marL="742950" lvl="1" indent="-285750" algn="l" rtl="0" fontAlgn="b">
              <a:buFont typeface="Arial" panose="020B0604020202020204" pitchFamily="34" charset="0"/>
              <a:buChar char="•"/>
            </a:pPr>
            <a:r>
              <a:rPr lang="de-DE" b="1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143</a:t>
            </a: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 (unverschlüsselt)</a:t>
            </a:r>
          </a:p>
          <a:p>
            <a:pPr marL="742950" lvl="1" indent="-285750" algn="l" rtl="0" fontAlgn="b">
              <a:buFont typeface="Arial" panose="020B0604020202020204" pitchFamily="34" charset="0"/>
              <a:buChar char="•"/>
            </a:pPr>
            <a:r>
              <a:rPr lang="de-DE" b="1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993</a:t>
            </a: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 (verschlüsselt über SSL/TLS)</a:t>
            </a:r>
          </a:p>
          <a:p>
            <a:endParaRPr lang="de-DE" dirty="0"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9F03743-28BD-BCAC-EC96-564D69C42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b="1" i="0" dirty="0">
                <a:solidFill>
                  <a:srgbClr val="5D93FF"/>
                </a:solidFill>
                <a:effectLst/>
                <a:latin typeface="72 Black" panose="020B0A04030603020204" pitchFamily="34" charset="0"/>
                <a:cs typeface="72 Black" panose="020B0A04030603020204" pitchFamily="34" charset="0"/>
              </a:rPr>
              <a:t>Was ist IMAP?</a:t>
            </a:r>
            <a:endParaRPr lang="de-DE" dirty="0">
              <a:solidFill>
                <a:srgbClr val="5D93FF"/>
              </a:solidFill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FC7FE5-62E5-2526-0C1A-F73EF8DA8B1D}"/>
              </a:ext>
            </a:extLst>
          </p:cNvPr>
          <p:cNvSpPr txBox="1"/>
          <p:nvPr/>
        </p:nvSpPr>
        <p:spPr>
          <a:xfrm>
            <a:off x="10802983" y="634321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3684684378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0712E7E-A006-6A2D-527E-FD80ADB04086}"/>
              </a:ext>
            </a:extLst>
          </p:cNvPr>
          <p:cNvSpPr/>
          <p:nvPr/>
        </p:nvSpPr>
        <p:spPr>
          <a:xfrm>
            <a:off x="581891" y="1690688"/>
            <a:ext cx="5181600" cy="4486275"/>
          </a:xfrm>
          <a:prstGeom prst="roundRect">
            <a:avLst/>
          </a:prstGeom>
          <a:solidFill>
            <a:srgbClr val="FFD9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BE9CDB5-C705-FCD3-7046-57A3F946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i="0" dirty="0">
                <a:solidFill>
                  <a:srgbClr val="5D93FF"/>
                </a:solidFill>
                <a:effectLst/>
                <a:latin typeface="72 Black" panose="020B0A04030603020204" pitchFamily="34" charset="0"/>
                <a:cs typeface="72 Black" panose="020B0A04030603020204" pitchFamily="34" charset="0"/>
              </a:rPr>
              <a:t>Wie funktioniert IMAP?</a:t>
            </a:r>
            <a:endParaRPr lang="de-DE" dirty="0">
              <a:solidFill>
                <a:srgbClr val="5D93FF"/>
              </a:solidFill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3C03FF-5615-C71D-A057-260BE1AD39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 rtl="0" fontAlgn="b">
              <a:buFont typeface="Arial" panose="020B0604020202020204" pitchFamily="34" charset="0"/>
              <a:buChar char="•"/>
            </a:pPr>
            <a:endParaRPr lang="de-DE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 fontAlgn="b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Verbindung zum Mailserver</a:t>
            </a:r>
          </a:p>
          <a:p>
            <a:pPr algn="l" rtl="0" fontAlgn="b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E-Mails bleiben auf dem Server</a:t>
            </a:r>
          </a:p>
          <a:p>
            <a:pPr algn="l" rtl="0" fontAlgn="b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Synchronisation zwischen allen Geräten</a:t>
            </a:r>
          </a:p>
          <a:p>
            <a:pPr algn="l" rtl="0" fontAlgn="b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Änderungen werden sofort übernommen</a:t>
            </a:r>
            <a:endParaRPr lang="de-DE" dirty="0"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3AC973B0-0F2C-03EF-BBD1-65D4DFBDD68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3457"/>
          <a:stretch/>
        </p:blipFill>
        <p:spPr>
          <a:xfrm>
            <a:off x="5896494" y="1690688"/>
            <a:ext cx="6428509" cy="4035426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E5517A4-9D4E-D3F0-6492-1309C4600F23}"/>
              </a:ext>
            </a:extLst>
          </p:cNvPr>
          <p:cNvSpPr txBox="1"/>
          <p:nvPr/>
        </p:nvSpPr>
        <p:spPr>
          <a:xfrm>
            <a:off x="10802983" y="634321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034756087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5C3B75C-4858-D1B4-C9A5-47C856C16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70" y="0"/>
            <a:ext cx="10459059" cy="6930839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20418A73-338C-AA7E-FEB0-863AC45F72A1}"/>
              </a:ext>
            </a:extLst>
          </p:cNvPr>
          <p:cNvSpPr/>
          <p:nvPr/>
        </p:nvSpPr>
        <p:spPr>
          <a:xfrm>
            <a:off x="6261101" y="365125"/>
            <a:ext cx="5181600" cy="5985799"/>
          </a:xfrm>
          <a:prstGeom prst="roundRect">
            <a:avLst/>
          </a:prstGeom>
          <a:solidFill>
            <a:srgbClr val="EC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E033C73-1CD8-D8B3-D561-44FEDEBD5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101" y="964405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de-DE" sz="4000" b="1" i="0" dirty="0">
                <a:solidFill>
                  <a:srgbClr val="FE427D"/>
                </a:solidFill>
                <a:effectLst/>
                <a:latin typeface="Arial" panose="020B0604020202020204" pitchFamily="34" charset="0"/>
              </a:rPr>
              <a:t>Nachteile</a:t>
            </a:r>
            <a:endParaRPr lang="de-DE" sz="4000" dirty="0">
              <a:solidFill>
                <a:srgbClr val="FE427D"/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CEE64B-74B6-CEB5-3AC3-AA6074C3BA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37467" y="2117883"/>
            <a:ext cx="5183188" cy="3684588"/>
          </a:xfrm>
        </p:spPr>
        <p:txBody>
          <a:bodyPr>
            <a:normAutofit/>
          </a:bodyPr>
          <a:lstStyle/>
          <a:p>
            <a:pPr algn="l" rtl="0" fontAlgn="b"/>
            <a:endParaRPr lang="de-DE" b="0" i="0" dirty="0">
              <a:solidFill>
                <a:srgbClr val="222222"/>
              </a:solidFill>
              <a:effectLst/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 Internetverbindung meist erforderlich</a:t>
            </a:r>
          </a:p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 Server-Speicher kann voll werden</a:t>
            </a:r>
          </a:p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 Etwas langsamer als POP3</a:t>
            </a:r>
          </a:p>
          <a:p>
            <a:endParaRPr lang="de-DE" dirty="0"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8417C9-276A-3012-0C9C-CB5389FB21E9}"/>
              </a:ext>
            </a:extLst>
          </p:cNvPr>
          <p:cNvSpPr/>
          <p:nvPr/>
        </p:nvSpPr>
        <p:spPr>
          <a:xfrm>
            <a:off x="-667040" y="-96931"/>
            <a:ext cx="6597939" cy="7124700"/>
          </a:xfrm>
          <a:prstGeom prst="rect">
            <a:avLst/>
          </a:prstGeom>
          <a:solidFill>
            <a:srgbClr val="FFE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4A3D4E-D0E2-18F1-D574-21235C5C6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719" y="964405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de-DE" sz="4000" b="1" i="0" dirty="0"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Vorteile</a:t>
            </a:r>
            <a:endParaRPr lang="de-DE" sz="4000" dirty="0">
              <a:solidFill>
                <a:srgbClr val="92D050"/>
              </a:solidFill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3FAAEEC-1B83-5902-DF72-2D4EC0FA2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345" y="2117883"/>
            <a:ext cx="5157787" cy="3684588"/>
          </a:xfrm>
        </p:spPr>
        <p:txBody>
          <a:bodyPr>
            <a:normAutofit/>
          </a:bodyPr>
          <a:lstStyle/>
          <a:p>
            <a:pPr marL="0" indent="0" algn="l" rtl="0" fontAlgn="b">
              <a:buNone/>
            </a:pPr>
            <a:endParaRPr lang="de-DE" b="0" i="0" dirty="0">
              <a:solidFill>
                <a:srgbClr val="222222"/>
              </a:solidFill>
              <a:effectLst/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 Zugriff von mehreren Geräten</a:t>
            </a:r>
          </a:p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 E-Mails bleiben gesichert auf dem Server</a:t>
            </a:r>
          </a:p>
          <a:p>
            <a:pPr algn="l" rtl="0" fontAlgn="b"/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 Ordner werden synchronisiert</a:t>
            </a:r>
          </a:p>
          <a:p>
            <a:pPr fontAlgn="b"/>
            <a:r>
              <a:rPr lang="de-DE" b="0" i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Ideal für Smartphone und PC gleichzeitig</a:t>
            </a:r>
          </a:p>
          <a:p>
            <a:pPr algn="l" rtl="0" fontAlgn="b"/>
            <a:endParaRPr lang="de-DE" b="0" i="0" dirty="0">
              <a:solidFill>
                <a:srgbClr val="222222"/>
              </a:solidFill>
              <a:effectLst/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marL="0" indent="0" algn="l" rtl="0" fontAlgn="b">
              <a:buNone/>
            </a:pPr>
            <a:endParaRPr lang="de-DE" dirty="0"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A161B78-2033-3F74-C35B-7920F06BBAD9}"/>
              </a:ext>
            </a:extLst>
          </p:cNvPr>
          <p:cNvSpPr txBox="1"/>
          <p:nvPr/>
        </p:nvSpPr>
        <p:spPr>
          <a:xfrm>
            <a:off x="10802983" y="634321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216690122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2C928B7A-B124-0F3E-FC5D-5F7F7A3FFE72}"/>
              </a:ext>
            </a:extLst>
          </p:cNvPr>
          <p:cNvSpPr/>
          <p:nvPr/>
        </p:nvSpPr>
        <p:spPr>
          <a:xfrm>
            <a:off x="6095999" y="-1"/>
            <a:ext cx="6096001" cy="6930839"/>
          </a:xfrm>
          <a:prstGeom prst="rect">
            <a:avLst/>
          </a:prstGeom>
          <a:solidFill>
            <a:srgbClr val="EAF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308C95D-2908-A228-1687-E5EC3D4A0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70" y="0"/>
            <a:ext cx="10459059" cy="693083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561A73A-453A-7987-22F5-F5FE5D27A6F1}"/>
              </a:ext>
            </a:extLst>
          </p:cNvPr>
          <p:cNvSpPr txBox="1"/>
          <p:nvPr/>
        </p:nvSpPr>
        <p:spPr>
          <a:xfrm>
            <a:off x="10802983" y="634321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379060381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2C928B7A-B124-0F3E-FC5D-5F7F7A3FFE72}"/>
              </a:ext>
            </a:extLst>
          </p:cNvPr>
          <p:cNvSpPr/>
          <p:nvPr/>
        </p:nvSpPr>
        <p:spPr>
          <a:xfrm>
            <a:off x="6096000" y="0"/>
            <a:ext cx="6096001" cy="6930839"/>
          </a:xfrm>
          <a:prstGeom prst="rect">
            <a:avLst/>
          </a:prstGeom>
          <a:solidFill>
            <a:srgbClr val="EAF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308C95D-2908-A228-1687-E5EC3D4A0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70" y="0"/>
            <a:ext cx="10459059" cy="6930839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72A35810-474E-A8ED-DFD7-72C3D0E1AE7B}"/>
              </a:ext>
            </a:extLst>
          </p:cNvPr>
          <p:cNvSpPr/>
          <p:nvPr/>
        </p:nvSpPr>
        <p:spPr>
          <a:xfrm>
            <a:off x="598515" y="1662545"/>
            <a:ext cx="5106785" cy="4355870"/>
          </a:xfrm>
          <a:prstGeom prst="rect">
            <a:avLst/>
          </a:prstGeom>
          <a:solidFill>
            <a:srgbClr val="DFF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i="0" dirty="0">
                <a:solidFill>
                  <a:srgbClr val="5D93FF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E-Mails bleiben auf Server</a:t>
            </a:r>
            <a:endParaRPr lang="de-DE" sz="2800" b="1" dirty="0">
              <a:solidFill>
                <a:srgbClr val="5D93FF"/>
              </a:solidFill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i="0" dirty="0">
                <a:solidFill>
                  <a:srgbClr val="5D93FF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Synchronisation </a:t>
            </a:r>
            <a:r>
              <a:rPr lang="de-DE" sz="2800" b="1" dirty="0">
                <a:solidFill>
                  <a:srgbClr val="5D93FF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m</a:t>
            </a:r>
            <a:r>
              <a:rPr lang="de-DE" sz="2800" b="1" i="0" dirty="0">
                <a:solidFill>
                  <a:srgbClr val="5D93FF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ehrere Geräte</a:t>
            </a:r>
            <a:endParaRPr lang="de-DE" sz="2800" b="1" dirty="0">
              <a:solidFill>
                <a:srgbClr val="5D93FF"/>
              </a:solidFill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i="0" dirty="0">
                <a:solidFill>
                  <a:srgbClr val="5D93FF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Moderne Lösung</a:t>
            </a:r>
            <a:endParaRPr lang="de-DE" sz="2800" b="1" dirty="0">
              <a:solidFill>
                <a:srgbClr val="5D93FF"/>
              </a:solidFill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6B87E67-FED7-FBA5-B6DF-E4EBEDE96CFA}"/>
              </a:ext>
            </a:extLst>
          </p:cNvPr>
          <p:cNvSpPr/>
          <p:nvPr/>
        </p:nvSpPr>
        <p:spPr>
          <a:xfrm>
            <a:off x="6248398" y="1814945"/>
            <a:ext cx="5943601" cy="4355870"/>
          </a:xfrm>
          <a:prstGeom prst="rect">
            <a:avLst/>
          </a:prstGeom>
          <a:solidFill>
            <a:srgbClr val="EB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i="0" dirty="0">
                <a:solidFill>
                  <a:srgbClr val="FF3E3A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E-Mails werden meist heruntergeladen</a:t>
            </a:r>
            <a:endParaRPr lang="de-DE" sz="2800" b="1" dirty="0">
              <a:solidFill>
                <a:srgbClr val="FF3E3A"/>
              </a:solidFill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i="0" dirty="0">
                <a:solidFill>
                  <a:srgbClr val="FF3E3A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Keine Synchronisation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i="0" dirty="0">
                <a:solidFill>
                  <a:srgbClr val="FF3E3A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Eher nur ein Gerät</a:t>
            </a:r>
            <a:endParaRPr lang="de-DE" sz="2800" b="1" dirty="0">
              <a:solidFill>
                <a:srgbClr val="FF3E3A"/>
              </a:solidFill>
              <a:latin typeface="72 Condensed" panose="020B0506030000000003" pitchFamily="34" charset="0"/>
              <a:cs typeface="72 Condensed" panose="020B05060300000000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i="0" dirty="0">
                <a:solidFill>
                  <a:srgbClr val="FF3E3A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Älteres Verfahren</a:t>
            </a:r>
            <a:endParaRPr lang="de-DE" sz="2800" b="1" dirty="0">
              <a:solidFill>
                <a:srgbClr val="FF3E3A"/>
              </a:solidFill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89D6273-6A4C-F4AB-A417-D0B2676DF93B}"/>
              </a:ext>
            </a:extLst>
          </p:cNvPr>
          <p:cNvSpPr txBox="1"/>
          <p:nvPr/>
        </p:nvSpPr>
        <p:spPr>
          <a:xfrm>
            <a:off x="10802983" y="634321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69174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ABF9D-99BA-765C-9363-E2EB4E4E0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>
                <a:solidFill>
                  <a:srgbClr val="5D93FF"/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Zusammenfassend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E2D0D8-0F88-7F65-B6BC-4AD860B96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IMAP verwaltet E-Mails auf dem Server.</a:t>
            </a:r>
          </a:p>
          <a:p>
            <a:pPr algn="l" rtl="0" fontAlgn="b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Mehrere Geräte bleiben immer synchron.</a:t>
            </a:r>
          </a:p>
          <a:p>
            <a:pPr algn="l" rtl="0" fontAlgn="b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22222"/>
                </a:solidFill>
                <a:effectLst/>
                <a:latin typeface="72 Condensed" panose="020B0506030000000003" pitchFamily="34" charset="0"/>
                <a:cs typeface="72 Condensed" panose="020B0506030000000003" pitchFamily="34" charset="0"/>
              </a:rPr>
              <a:t>Heute der Standard für E-Mail-Programme</a:t>
            </a:r>
          </a:p>
          <a:p>
            <a:endParaRPr lang="de-DE" dirty="0"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C9F46E4-980E-BCD0-3ACC-939A8B9A7F5B}"/>
              </a:ext>
            </a:extLst>
          </p:cNvPr>
          <p:cNvSpPr txBox="1"/>
          <p:nvPr/>
        </p:nvSpPr>
        <p:spPr>
          <a:xfrm>
            <a:off x="10802983" y="634321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251718954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Breitbild</PresentationFormat>
  <Paragraphs>78</Paragraphs>
  <Slides>8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72 Black</vt:lpstr>
      <vt:lpstr>72 Condensed</vt:lpstr>
      <vt:lpstr>Aptos</vt:lpstr>
      <vt:lpstr>Aptos Display</vt:lpstr>
      <vt:lpstr>Arial</vt:lpstr>
      <vt:lpstr>TeleNeo Web</vt:lpstr>
      <vt:lpstr>Office</vt:lpstr>
      <vt:lpstr>PowerPoint-Präsentation</vt:lpstr>
      <vt:lpstr>Agenda </vt:lpstr>
      <vt:lpstr>Was ist IMAP?</vt:lpstr>
      <vt:lpstr>Wie funktioniert IMAP?</vt:lpstr>
      <vt:lpstr>PowerPoint-Präsentation</vt:lpstr>
      <vt:lpstr>PowerPoint-Präsentation</vt:lpstr>
      <vt:lpstr>PowerPoint-Präsentation</vt:lpstr>
      <vt:lpstr>Zusammenfassend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Lohmiller, Jana</dc:creator>
  <cp:lastModifiedBy>Lohmiller, Jana</cp:lastModifiedBy>
  <cp:revision>13</cp:revision>
  <dcterms:created xsi:type="dcterms:W3CDTF">2026-07-08T10:19:56Z</dcterms:created>
  <dcterms:modified xsi:type="dcterms:W3CDTF">2026-07-15T11:10:19Z</dcterms:modified>
</cp:coreProperties>
</file>